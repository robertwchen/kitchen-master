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7680446ef34947" /><Relationship Type="http://schemas.openxmlformats.org/officeDocument/2006/relationships/extended-properties" Target="/docProps/app.xml" Id="Ref445a0f9ae54382" /><Relationship Type="http://schemas.openxmlformats.org/officeDocument/2006/relationships/officeDocument" Target="/ppt/presentation.xml" Id="R32935caf25b74a6b" /></Relationships>
</file>

<file path=ppt/presentation.xml><?xml version="1.0" encoding="utf-8"?>
<p:presentation xmlns:p="http://schemas.openxmlformats.org/presentationml/2006/main">
  <p:sldMasterIdLst>
    <p:sldMasterId xmlns:r="http://schemas.openxmlformats.org/officeDocument/2006/relationships" id="2147483648" r:id="Rfeb7f409e76d42a6"/>
  </p:sldMasterIdLst>
  <p:notesMasterIdLst>
    <p:notesMasterId xmlns:r="http://schemas.openxmlformats.org/officeDocument/2006/relationships" r:id="R4b7fe1fdbc5442c2"/>
  </p:notesMasterIdLst>
  <p:sldIdLst>
    <p:sldId xmlns:r="http://schemas.openxmlformats.org/officeDocument/2006/relationships" id="256" r:id="Rae50aa925d824ffd"/>
    <p:sldId xmlns:r="http://schemas.openxmlformats.org/officeDocument/2006/relationships" id="257" r:id="Reebfc84c701a4296"/>
    <p:sldId xmlns:r="http://schemas.openxmlformats.org/officeDocument/2006/relationships" id="258" r:id="Rbcc0e44f48494a4a"/>
    <p:sldId xmlns:r="http://schemas.openxmlformats.org/officeDocument/2006/relationships" id="259" r:id="Rbca1ed46a2924ed6"/>
    <p:sldId xmlns:r="http://schemas.openxmlformats.org/officeDocument/2006/relationships" id="260" r:id="R7c7bff0187e545d5"/>
    <p:sldId xmlns:r="http://schemas.openxmlformats.org/officeDocument/2006/relationships" id="261" r:id="R97b0882ff6884e85"/>
    <p:sldId xmlns:r="http://schemas.openxmlformats.org/officeDocument/2006/relationships" id="262" r:id="R34ada346a2794b60"/>
    <p:sldId xmlns:r="http://schemas.openxmlformats.org/officeDocument/2006/relationships" id="263" r:id="R3b93f1e80bf14bce"/>
    <p:sldId xmlns:r="http://schemas.openxmlformats.org/officeDocument/2006/relationships" id="264" r:id="R8e676ddeda3c44bb"/>
    <p:sldId xmlns:r="http://schemas.openxmlformats.org/officeDocument/2006/relationships" id="265" r:id="Rd83146c11562426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feb7f409e76d42a6" /><Relationship Type="http://schemas.openxmlformats.org/officeDocument/2006/relationships/theme" Target="/ppt/theme/theme1.xml" Id="R3132f0ffe85a46b5" /><Relationship Type="http://schemas.openxmlformats.org/officeDocument/2006/relationships/notesMaster" Target="/ppt/notesMasters/notesMaster1.xml" Id="R4b7fe1fdbc5442c2" /><Relationship Type="http://schemas.openxmlformats.org/officeDocument/2006/relationships/presProps" Target="/ppt/presProps.xml" Id="R0c560c5e812e483c" /><Relationship Type="http://schemas.openxmlformats.org/officeDocument/2006/relationships/viewProps" Target="/ppt/viewProps.xml" Id="R65ebda54b0a6406b" /><Relationship Type="http://schemas.openxmlformats.org/officeDocument/2006/relationships/tableStyles" Target="/ppt/tableStyles.xml" Id="R1823b1b1b2d34f01" /><Relationship Type="http://schemas.openxmlformats.org/officeDocument/2006/relationships/slide" Target="/ppt/slides/slide1.xml" Id="Rae50aa925d824ffd" /><Relationship Type="http://schemas.openxmlformats.org/officeDocument/2006/relationships/slide" Target="/ppt/slides/slide2.xml" Id="Reebfc84c701a4296" /><Relationship Type="http://schemas.openxmlformats.org/officeDocument/2006/relationships/slide" Target="/ppt/slides/slide3.xml" Id="Rbcc0e44f48494a4a" /><Relationship Type="http://schemas.openxmlformats.org/officeDocument/2006/relationships/slide" Target="/ppt/slides/slide4.xml" Id="Rbca1ed46a2924ed6" /><Relationship Type="http://schemas.openxmlformats.org/officeDocument/2006/relationships/slide" Target="/ppt/slides/slide5.xml" Id="R7c7bff0187e545d5" /><Relationship Type="http://schemas.openxmlformats.org/officeDocument/2006/relationships/slide" Target="/ppt/slides/slide6.xml" Id="R97b0882ff6884e85" /><Relationship Type="http://schemas.openxmlformats.org/officeDocument/2006/relationships/slide" Target="/ppt/slides/slide7.xml" Id="R34ada346a2794b60" /><Relationship Type="http://schemas.openxmlformats.org/officeDocument/2006/relationships/slide" Target="/ppt/slides/slide8.xml" Id="R3b93f1e80bf14bce" /><Relationship Type="http://schemas.openxmlformats.org/officeDocument/2006/relationships/slide" Target="/ppt/slides/slide9.xml" Id="R8e676ddeda3c44bb" /><Relationship Type="http://schemas.openxmlformats.org/officeDocument/2006/relationships/slide" Target="/ppt/slides/slide10.xml" Id="Rd83146c1156242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188a665c05d48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2055fb205494a" /><Relationship Type="http://schemas.openxmlformats.org/officeDocument/2006/relationships/notesMaster" Target="/ppt/notesMasters/notesMaster1.xml" Id="R9a2918789b7640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519e760db946d8" /><Relationship Type="http://schemas.openxmlformats.org/officeDocument/2006/relationships/notesMaster" Target="/ppt/notesMasters/notesMaster1.xml" Id="R5d121562032645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51e5482d834818" /><Relationship Type="http://schemas.openxmlformats.org/officeDocument/2006/relationships/notesMaster" Target="/ppt/notesMasters/notesMaster1.xml" Id="R8f486d34753b40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9c09268c1b493b" /><Relationship Type="http://schemas.openxmlformats.org/officeDocument/2006/relationships/notesMaster" Target="/ppt/notesMasters/notesMaster1.xml" Id="R6910668e81e741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86c329f75f4081" /><Relationship Type="http://schemas.openxmlformats.org/officeDocument/2006/relationships/notesMaster" Target="/ppt/notesMasters/notesMaster1.xml" Id="R0ad03b6a76d64c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abc699995c4696" /><Relationship Type="http://schemas.openxmlformats.org/officeDocument/2006/relationships/notesMaster" Target="/ppt/notesMasters/notesMaster1.xml" Id="R8f992f93301343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46a15d2e6f4c64" /><Relationship Type="http://schemas.openxmlformats.org/officeDocument/2006/relationships/notesMaster" Target="/ppt/notesMasters/notesMaster1.xml" Id="Rf06b80ae3aae47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cbdb80c9cb4422" /><Relationship Type="http://schemas.openxmlformats.org/officeDocument/2006/relationships/notesMaster" Target="/ppt/notesMasters/notesMaster1.xml" Id="R7ad78372eccd4d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6d4ca7bbe04679" /><Relationship Type="http://schemas.openxmlformats.org/officeDocument/2006/relationships/notesMaster" Target="/ppt/notesMasters/notesMaster1.xml" Id="R18744c70ab994b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2947da659c4c1a" /><Relationship Type="http://schemas.openxmlformats.org/officeDocument/2006/relationships/notesMaster" Target="/ppt/notesMasters/notesMaster1.xml" Id="R1f791f066a9444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framing, then immediately anchor the audience on the strongest result: reliable court registration across the full clip.</a:t>
            </a:r>
          </a:p>
          <a:p xmlns:a="http://schemas.openxmlformats.org/drawingml/2006/main">
            <a:r>
              <a:t/>
            </a:r>
          </a:p>
          <a:p xmlns:a="http://schemas.openxmlformats.org/drawingml/2006/main">
            <a:r>
              <a:t>[Sources]</a:t>
            </a:r>
          </a:p>
          <a:p xmlns:a="http://schemas.openxmlformats.org/drawingml/2006/main">
            <a:r>
              <a:t>- photos_for_slides/TECHNICAL_SUMMARY.md</a:t>
            </a:r>
          </a:p>
          <a:p xmlns:a="http://schemas.openxmlformats.org/drawingml/2006/main">
            <a:r>
              <a:t>- photos_for_slides/court_reg_v3_summary_report.json</a:t>
            </a:r>
          </a:p>
          <a:p xmlns:a="http://schemas.openxmlformats.org/drawingml/2006/main">
            <a:r>
              <a:t>- photos_for_slides/demo_foot_fault_summary.json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establish the problem before getting into methods. The line estimate, active side, and foot point all have to agree in the same frame.</a:t>
            </a:r>
          </a:p>
          <a:p xmlns:a="http://schemas.openxmlformats.org/drawingml/2006/main">
            <a:r>
              <a:t/>
            </a:r>
          </a:p>
          <a:p xmlns:a="http://schemas.openxmlformats.org/drawingml/2006/main">
            <a:r>
              <a:t>[Sources]</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method summary. Keep it high level and save implementation details for questions.</a:t>
            </a:r>
          </a:p>
          <a:p xmlns:a="http://schemas.openxmlformats.org/drawingml/2006/main">
            <a:r>
              <a:t/>
            </a:r>
          </a:p>
          <a:p xmlns:a="http://schemas.openxmlformats.org/drawingml/2006/main">
            <a:r>
              <a:t>[Sources]</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registration is the most defensible result. If asked for the single strongest number, cite 2055 out of 2055 frames with zero fallbacks.</a:t>
            </a:r>
          </a:p>
          <a:p xmlns:a="http://schemas.openxmlformats.org/drawingml/2006/main">
            <a:r>
              <a:t/>
            </a:r>
          </a:p>
          <a:p xmlns:a="http://schemas.openxmlformats.org/drawingml/2006/main">
            <a:r>
              <a:t>[Sources]</a:t>
            </a:r>
          </a:p>
          <a:p xmlns:a="http://schemas.openxmlformats.org/drawingml/2006/main">
            <a:r>
              <a:t>- photos_for_slides/court_reg_v3_summary_report.json</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justify why the current registration configuration is not arbitrary. The comparison result is a strong way to show engineering progress.</a:t>
            </a:r>
          </a:p>
          <a:p xmlns:a="http://schemas.openxmlformats.org/drawingml/2006/main">
            <a:r>
              <a:t/>
            </a:r>
          </a:p>
          <a:p xmlns:a="http://schemas.openxmlformats.org/drawingml/2006/main">
            <a:r>
              <a:t>[Sources]</a:t>
            </a:r>
          </a:p>
          <a:p xmlns:a="http://schemas.openxmlformats.org/drawingml/2006/main">
            <a:r>
              <a:t>- photos_for_slides/court_reg_v3_summary_report.json</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status slide. It is intentionally honest and should lower the risk of overclaiming the current system.</a:t>
            </a:r>
          </a:p>
          <a:p xmlns:a="http://schemas.openxmlformats.org/drawingml/2006/main">
            <a:r>
              <a:t/>
            </a:r>
          </a:p>
          <a:p xmlns:a="http://schemas.openxmlformats.org/drawingml/2006/main">
            <a:r>
              <a:t>[Sources]</a:t>
            </a:r>
          </a:p>
          <a:p xmlns:a="http://schemas.openxmlformats.org/drawingml/2006/main">
            <a:r>
              <a:t>- photos_for_slides/demo_foot_fault_summary.json</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show that the prototype is more than a registration demo. The full chain can produce an interpretable fault call on at least one clean event.</a:t>
            </a:r>
          </a:p>
          <a:p xmlns:a="http://schemas.openxmlformats.org/drawingml/2006/main">
            <a:r>
              <a:t/>
            </a:r>
          </a:p>
          <a:p xmlns:a="http://schemas.openxmlformats.org/drawingml/2006/main">
            <a:r>
              <a:t>[Sources]</a:t>
            </a:r>
          </a:p>
          <a:p xmlns:a="http://schemas.openxmlformats.org/drawingml/2006/main">
            <a:r>
              <a:t>- photos_for_slides/demo_foot_fault_summary.json</a:t>
            </a:r>
          </a:p>
          <a:p xmlns:a="http://schemas.openxmlformats.org/drawingml/2006/main">
            <a:r>
              <a:t>- photos_for_slides/demo_foot_fault_events.csv</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uncertainty is useful, answer that a wrong fault call is worse than abstaining. This slide is the evidence for that design choice.</a:t>
            </a:r>
          </a:p>
          <a:p xmlns:a="http://schemas.openxmlformats.org/drawingml/2006/main">
            <a:r>
              <a:t/>
            </a:r>
          </a:p>
          <a:p xmlns:a="http://schemas.openxmlformats.org/drawingml/2006/main">
            <a:r>
              <a:t>[Sources]</a:t>
            </a:r>
          </a:p>
          <a:p xmlns:a="http://schemas.openxmlformats.org/drawingml/2006/main">
            <a:r>
              <a:t>- photos_for_slides/demo_foot_fault_summary.json</a:t>
            </a:r>
          </a:p>
          <a:p xmlns:a="http://schemas.openxmlformats.org/drawingml/2006/main">
            <a:r>
              <a:t>- photos_for_slides/demo_foot_fault_events.csv</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to use when the professor asks whether the system is fully automatic. The correct answer is no, and the review workflow is an intentional part of the current design.</a:t>
            </a:r>
          </a:p>
          <a:p xmlns:a="http://schemas.openxmlformats.org/drawingml/2006/main">
            <a:r>
              <a:t/>
            </a:r>
          </a:p>
          <a:p xmlns:a="http://schemas.openxmlformats.org/drawingml/2006/main">
            <a:r>
              <a:t>[Sources]</a:t>
            </a:r>
          </a:p>
          <a:p xmlns:a="http://schemas.openxmlformats.org/drawingml/2006/main">
            <a:r>
              <a:t>- photos_for_slides/TECHNICAL_SUMMARY.md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strongest result, the honest limitation, and the next step. This keeps the presentation credible and focused.</a:t>
            </a:r>
          </a:p>
          <a:p xmlns:a="http://schemas.openxmlformats.org/drawingml/2006/main">
            <a:r>
              <a:t/>
            </a:r>
          </a:p>
          <a:p xmlns:a="http://schemas.openxmlformats.org/drawingml/2006/main">
            <a:r>
              <a:t>[Sources]</a:t>
            </a:r>
          </a:p>
          <a:p xmlns:a="http://schemas.openxmlformats.org/drawingml/2006/main">
            <a:r>
              <a:t>- photos_for_slides/TECHNICAL_SUMMARY.md</a:t>
            </a:r>
          </a:p>
          <a:p xmlns:a="http://schemas.openxmlformats.org/drawingml/2006/main">
            <a:r>
              <a:t>- photos_for_slides/court_reg_v3_summary_report.json</a:t>
            </a:r>
          </a:p>
          <a:p xmlns:a="http://schemas.openxmlformats.org/drawingml/2006/main">
            <a:r>
              <a:t>- photos_for_slides/demo_foot_fault_summary.json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5ba3cef0e5448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623B1877-A3CE-465F-8E4F-3FEA854F1C28}"/>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5BBF8907-DB54-47C1-B8E9-A23140625A4E}"/>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792C2CFF-7119-402C-ABEB-208FA8F287E6}"/>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7CDD1140-0482-40F6-920D-C94781EDE8BC}"/>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1038C137-07D6-4222-B5A6-AB3706230DF7}"/>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17730259ad88487a" /><Relationship Type="http://schemas.openxmlformats.org/officeDocument/2006/relationships/slideLayout" Target="/ppt/slideLayouts/slideLayout2.xml" Id="Reb066631eae74f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476B1A94-3E54-4640-A612-125BC7A06A60}"/>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066631eae74f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a959c40631449f2" /><Relationship Type="http://schemas.openxmlformats.org/officeDocument/2006/relationships/image" Target="/ppt/media/image.png" Id="R0f899b525d7b4abd" /><Relationship Type="http://schemas.openxmlformats.org/officeDocument/2006/relationships/notesSlide" Target="/ppt/notesSlides/notesSlide1.xml" Id="Rf1d43409d0d648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3dfce88c5ce48ce" /><Relationship Type="http://schemas.openxmlformats.org/officeDocument/2006/relationships/image" Target="/ppt/media/image2.png" Id="Rcb5db33398b24e81" /><Relationship Type="http://schemas.openxmlformats.org/officeDocument/2006/relationships/notesSlide" Target="/ppt/notesSlides/notesSlide2.xml" Id="Rbc0a0473434d43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0ccd0535d45476b" /><Relationship Type="http://schemas.openxmlformats.org/officeDocument/2006/relationships/notesSlide" Target="/ppt/notesSlides/notesSlide3.xml" Id="Rdd51f7e4b6d147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30bd2653f9c4568" /><Relationship Type="http://schemas.openxmlformats.org/officeDocument/2006/relationships/image" Target="/ppt/media/image3.png" Id="Rda2b6c07ba984956" /><Relationship Type="http://schemas.openxmlformats.org/officeDocument/2006/relationships/notesSlide" Target="/ppt/notesSlides/notesSlide4.xml" Id="R270e4f63098a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752a15e82d04e05" /><Relationship Type="http://schemas.openxmlformats.org/officeDocument/2006/relationships/image" Target="/ppt/media/image4.png" Id="R9a6afcc1ad314749" /><Relationship Type="http://schemas.openxmlformats.org/officeDocument/2006/relationships/notesSlide" Target="/ppt/notesSlides/notesSlide5.xml" Id="Rcb66476b928744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bc3e4ec27c742f6" /><Relationship Type="http://schemas.openxmlformats.org/officeDocument/2006/relationships/notesSlide" Target="/ppt/notesSlides/notesSlide6.xml" Id="Rfb6cf798fbf243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8b0d4f6f5d348a1" /><Relationship Type="http://schemas.openxmlformats.org/officeDocument/2006/relationships/image" Target="/ppt/media/image5.png" Id="Rcdb8fe0c65224ef7" /><Relationship Type="http://schemas.openxmlformats.org/officeDocument/2006/relationships/notesSlide" Target="/ppt/notesSlides/notesSlide7.xml" Id="R4e379149598242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22164a36efc4c12" /><Relationship Type="http://schemas.openxmlformats.org/officeDocument/2006/relationships/image" Target="/ppt/media/image6.png" Id="Rdee5aa7ce0ba4616" /><Relationship Type="http://schemas.openxmlformats.org/officeDocument/2006/relationships/notesSlide" Target="/ppt/notesSlides/notesSlide8.xml" Id="R1f83c00477f34a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20a0d23afb046b1" /><Relationship Type="http://schemas.openxmlformats.org/officeDocument/2006/relationships/image" Target="/ppt/media/image7.png" Id="Re577c271669b4e67" /><Relationship Type="http://schemas.openxmlformats.org/officeDocument/2006/relationships/notesSlide" Target="/ppt/notesSlides/notesSlide9.xml" Id="R30c25bca32874a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fe9738a28cf46cc" /><Relationship Type="http://schemas.openxmlformats.org/officeDocument/2006/relationships/image" Target="/ppt/media/image8.png" Id="R1a3d2b1b2f6149ee" /><Relationship Type="http://schemas.openxmlformats.org/officeDocument/2006/relationships/notesSlide" Target="/ppt/notesSlides/notesSlide10.xml" Id="Rd8981cdadaa74714"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70D709E-6457-47F1-B612-1C169D915E96}"/>
              </a:ext>
            </a:extLst>
          </p:cNvPr>
          <p:cNvSpPr>
            <a:spLocks xmlns:a="http://schemas.openxmlformats.org/drawingml/2006/main" noGrp="1"/>
          </p:cNvSpPr>
          <p:nvPr/>
        </p:nvSpPr>
        <p:spPr>
          <a:xfrm xmlns:a="http://schemas.openxmlformats.org/drawingml/2006/main">
            <a:off x="6305550" y="685800"/>
            <a:ext cx="5314950" cy="5505450"/>
          </a:xfrm>
          <a:prstGeom xmlns:a="http://schemas.openxmlformats.org/drawingml/2006/main" prst="roundRect">
            <a:avLst>
              <a:gd name="adj" fmla="val 1434"/>
            </a:avLst>
          </a:prstGeom>
          <a:solidFill xmlns:a="http://schemas.openxmlformats.org/drawingml/2006/main">
            <a:srgbClr val="1E293B">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2300FA8-DCC0-4A96-BD7D-4723BB5BBA9E}"/>
              </a:ext>
            </a:extLst>
          </p:cNvPr>
          <p:cNvSpPr>
            <a:spLocks xmlns:a="http://schemas.openxmlformats.org/drawingml/2006/main" noGrp="1"/>
          </p:cNvSpPr>
          <p:nvPr/>
        </p:nvSpPr>
        <p:spPr>
          <a:xfrm xmlns:a="http://schemas.openxmlformats.org/drawingml/2006/main">
            <a:off x="6457950" y="838200"/>
            <a:ext cx="5010150" cy="4610100"/>
          </a:xfrm>
          <a:prstGeom xmlns:a="http://schemas.openxmlformats.org/drawingml/2006/main" prst="roundRect">
            <a:avLst>
              <a:gd name="adj" fmla="val 1653"/>
            </a:avLst>
          </a:prstGeom>
          <a:solidFill xmlns:a="http://schemas.openxmlformats.org/drawingml/2006/main">
            <a:srgbClr val="FFFFFF"/>
          </a:solidFill>
          <a:ln xmlns:a="http://schemas.openxmlformats.org/drawingml/2006/main" w="11430">
            <a:solidFill>
              <a:srgbClr val="CBD5E1"/>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0f899b525d7b4abd"/>
          <a:stretch xmlns:a="http://schemas.openxmlformats.org/drawingml/2006/main"/>
        </p:blipFill>
        <p:spPr>
          <a:xfrm xmlns:a="http://schemas.openxmlformats.org/drawingml/2006/main">
            <a:off x="6553200" y="1787723"/>
            <a:ext cx="4819650" cy="2711053"/>
          </a:xfrm>
          <a:prstGeom xmlns:a="http://schemas.openxmlformats.org/drawingml/2006/main" prst="roundRect">
            <a:avLst/>
          </a:prstGeom>
        </p:spPr>
      </p:pic>
      <p:sp>
        <p:nvSpPr>
          <p:cNvPr id="5" name="">
            <a:extLst xmlns:a="http://schemas.openxmlformats.org/drawingml/2006/main">
              <a:ext uri="{FF2B5EF4-FFF2-40B4-BE49-F238E27FC236}">
                <a16:creationId xmlns:a16="http://schemas.microsoft.com/office/drawing/2014/main" id="{9F047F04-E12A-40AF-BA67-5D57C03DA21D}"/>
              </a:ext>
            </a:extLst>
          </p:cNvPr>
          <p:cNvSpPr>
            <a:spLocks xmlns:a="http://schemas.openxmlformats.org/drawingml/2006/main" noGrp="1"/>
          </p:cNvSpPr>
          <p:nvPr/>
        </p:nvSpPr>
        <p:spPr>
          <a:xfrm xmlns:a="http://schemas.openxmlformats.org/drawingml/2006/main">
            <a:off x="685800" y="876300"/>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93C5FD"/>
                </a:solidFill>
              </a:defRPr>
            </a:pPr>
            <a:r>
              <a:rPr sz="900" b="1">
                <a:solidFill>
                  <a:srgbClr val="93C5FD"/>
                </a:solidFill>
              </a:rPr>
              <a:t>KITCHENMASTER</a:t>
            </a:r>
          </a:p>
        </p:txBody>
      </p:sp>
      <p:sp>
        <p:nvSpPr>
          <p:cNvPr id="6" name="">
            <a:extLst xmlns:a="http://schemas.openxmlformats.org/drawingml/2006/main">
              <a:ext uri="{FF2B5EF4-FFF2-40B4-BE49-F238E27FC236}">
                <a16:creationId xmlns:a16="http://schemas.microsoft.com/office/drawing/2014/main" id="{115A6E29-3F71-45E6-8863-03787497F6B3}"/>
              </a:ext>
            </a:extLst>
          </p:cNvPr>
          <p:cNvSpPr>
            <a:spLocks xmlns:a="http://schemas.openxmlformats.org/drawingml/2006/main" noGrp="1"/>
          </p:cNvSpPr>
          <p:nvPr/>
        </p:nvSpPr>
        <p:spPr>
          <a:xfrm xmlns:a="http://schemas.openxmlformats.org/drawingml/2006/main">
            <a:off x="685800" y="1200150"/>
            <a:ext cx="53340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F8FAFC"/>
                </a:solidFill>
              </a:defRPr>
            </a:pPr>
            <a:r>
              <a:rPr sz="2550" b="1">
                <a:solidFill>
                  <a:srgbClr val="F8FAFC"/>
                </a:solidFill>
              </a:rPr>
              <a:t>Pickleball kitchen foot-fault detection from a single side-view camera</a:t>
            </a:r>
          </a:p>
        </p:txBody>
      </p:sp>
      <p:sp>
        <p:nvSpPr>
          <p:cNvPr id="7" name="">
            <a:extLst xmlns:a="http://schemas.openxmlformats.org/drawingml/2006/main">
              <a:ext uri="{FF2B5EF4-FFF2-40B4-BE49-F238E27FC236}">
                <a16:creationId xmlns:a16="http://schemas.microsoft.com/office/drawing/2014/main" id="{4F2FB3D5-94AF-45F1-84EB-EB7C28F4DF3A}"/>
              </a:ext>
            </a:extLst>
          </p:cNvPr>
          <p:cNvSpPr>
            <a:spLocks xmlns:a="http://schemas.openxmlformats.org/drawingml/2006/main" noGrp="1"/>
          </p:cNvSpPr>
          <p:nvPr/>
        </p:nvSpPr>
        <p:spPr>
          <a:xfrm xmlns:a="http://schemas.openxmlformats.org/drawingml/2006/main">
            <a:off x="704850" y="2952750"/>
            <a:ext cx="5143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CE7F5"/>
                </a:solidFill>
              </a:defRPr>
            </a:pPr>
            <a:r>
              <a:rPr sz="1500" b="0">
                <a:solidFill>
                  <a:srgbClr val="DCE7F5"/>
                </a:solidFill>
              </a:rPr>
              <a:t>A research prototype that registers court geometry, infers likely volley events, localizes the relevant foot, and labels the result as legal, fault, or uncertain.</a:t>
            </a:r>
          </a:p>
        </p:txBody>
      </p:sp>
      <p:sp>
        <p:nvSpPr>
          <p:cNvPr id="8" name="">
            <a:extLst xmlns:a="http://schemas.openxmlformats.org/drawingml/2006/main">
              <a:ext uri="{FF2B5EF4-FFF2-40B4-BE49-F238E27FC236}">
                <a16:creationId xmlns:a16="http://schemas.microsoft.com/office/drawing/2014/main" id="{ABE0B606-1F35-48AF-BEDD-B465B90D731B}"/>
              </a:ext>
            </a:extLst>
          </p:cNvPr>
          <p:cNvSpPr>
            <a:spLocks xmlns:a="http://schemas.openxmlformats.org/drawingml/2006/main" noGrp="1"/>
          </p:cNvSpPr>
          <p:nvPr/>
        </p:nvSpPr>
        <p:spPr>
          <a:xfrm xmlns:a="http://schemas.openxmlformats.org/drawingml/2006/main">
            <a:off x="685800" y="4324350"/>
            <a:ext cx="15811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C3C9B3AE-EC24-4B18-9973-6D3C8608FF61}"/>
              </a:ext>
            </a:extLst>
          </p:cNvPr>
          <p:cNvSpPr>
            <a:spLocks xmlns:a="http://schemas.openxmlformats.org/drawingml/2006/main" noGrp="1"/>
          </p:cNvSpPr>
          <p:nvPr/>
        </p:nvSpPr>
        <p:spPr>
          <a:xfrm xmlns:a="http://schemas.openxmlformats.org/drawingml/2006/main">
            <a:off x="685800" y="4324350"/>
            <a:ext cx="1581150" cy="57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51FB542-6369-41E0-A253-06D3AADD934A}"/>
              </a:ext>
            </a:extLst>
          </p:cNvPr>
          <p:cNvSpPr>
            <a:spLocks xmlns:a="http://schemas.openxmlformats.org/drawingml/2006/main" noGrp="1"/>
          </p:cNvSpPr>
          <p:nvPr/>
        </p:nvSpPr>
        <p:spPr>
          <a:xfrm xmlns:a="http://schemas.openxmlformats.org/drawingml/2006/main">
            <a:off x="876300" y="449580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8162"/>
          </a:bodyPr>
          <a:lstStyle xmlns:a="http://schemas.openxmlformats.org/drawingml/2006/main"/>
          <a:p xmlns:a="http://schemas.openxmlformats.org/drawingml/2006/main">
            <a:pPr algn="l">
              <a:defRPr sz="2250" b="1">
                <a:solidFill>
                  <a:srgbClr val="111827"/>
                </a:solidFill>
              </a:defRPr>
            </a:pPr>
            <a:r>
              <a:rPr sz="2250" b="1">
                <a:solidFill>
                  <a:srgbClr val="111827"/>
                </a:solidFill>
              </a:rPr>
              <a:t>2055 / 2055</a:t>
            </a:r>
          </a:p>
        </p:txBody>
      </p:sp>
      <p:sp>
        <p:nvSpPr>
          <p:cNvPr id="11" name="">
            <a:extLst xmlns:a="http://schemas.openxmlformats.org/drawingml/2006/main">
              <a:ext uri="{FF2B5EF4-FFF2-40B4-BE49-F238E27FC236}">
                <a16:creationId xmlns:a16="http://schemas.microsoft.com/office/drawing/2014/main" id="{4E10351D-0CC8-4E4C-9546-8E0EA62FB4B3}"/>
              </a:ext>
            </a:extLst>
          </p:cNvPr>
          <p:cNvSpPr>
            <a:spLocks xmlns:a="http://schemas.openxmlformats.org/drawingml/2006/main" noGrp="1"/>
          </p:cNvSpPr>
          <p:nvPr/>
        </p:nvSpPr>
        <p:spPr>
          <a:xfrm xmlns:a="http://schemas.openxmlformats.org/drawingml/2006/main">
            <a:off x="876300" y="5010150"/>
            <a:ext cx="1200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registered frames</a:t>
            </a:r>
          </a:p>
        </p:txBody>
      </p:sp>
      <p:sp>
        <p:nvSpPr>
          <p:cNvPr id="12" name="">
            <a:extLst xmlns:a="http://schemas.openxmlformats.org/drawingml/2006/main">
              <a:ext uri="{FF2B5EF4-FFF2-40B4-BE49-F238E27FC236}">
                <a16:creationId xmlns:a16="http://schemas.microsoft.com/office/drawing/2014/main" id="{253DC70B-5CA8-42A9-82F3-3CE3DC4468B0}"/>
              </a:ext>
            </a:extLst>
          </p:cNvPr>
          <p:cNvSpPr>
            <a:spLocks xmlns:a="http://schemas.openxmlformats.org/drawingml/2006/main" noGrp="1"/>
          </p:cNvSpPr>
          <p:nvPr/>
        </p:nvSpPr>
        <p:spPr>
          <a:xfrm xmlns:a="http://schemas.openxmlformats.org/drawingml/2006/main">
            <a:off x="876300" y="5105400"/>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best current technical result</a:t>
            </a:r>
          </a:p>
        </p:txBody>
      </p:sp>
      <p:sp>
        <p:nvSpPr>
          <p:cNvPr id="13" name="">
            <a:extLst xmlns:a="http://schemas.openxmlformats.org/drawingml/2006/main">
              <a:ext uri="{FF2B5EF4-FFF2-40B4-BE49-F238E27FC236}">
                <a16:creationId xmlns:a16="http://schemas.microsoft.com/office/drawing/2014/main" id="{325A877D-5F3C-4520-9681-777029C542B7}"/>
              </a:ext>
            </a:extLst>
          </p:cNvPr>
          <p:cNvSpPr>
            <a:spLocks xmlns:a="http://schemas.openxmlformats.org/drawingml/2006/main" noGrp="1"/>
          </p:cNvSpPr>
          <p:nvPr/>
        </p:nvSpPr>
        <p:spPr>
          <a:xfrm xmlns:a="http://schemas.openxmlformats.org/drawingml/2006/main">
            <a:off x="2400300" y="4324350"/>
            <a:ext cx="15811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4" name="">
            <a:extLst xmlns:a="http://schemas.openxmlformats.org/drawingml/2006/main">
              <a:ext uri="{FF2B5EF4-FFF2-40B4-BE49-F238E27FC236}">
                <a16:creationId xmlns:a16="http://schemas.microsoft.com/office/drawing/2014/main" id="{F0BA5B69-81EA-4757-BA71-E354ABDFC3A7}"/>
              </a:ext>
            </a:extLst>
          </p:cNvPr>
          <p:cNvSpPr>
            <a:spLocks xmlns:a="http://schemas.openxmlformats.org/drawingml/2006/main" noGrp="1"/>
          </p:cNvSpPr>
          <p:nvPr/>
        </p:nvSpPr>
        <p:spPr>
          <a:xfrm xmlns:a="http://schemas.openxmlformats.org/drawingml/2006/main">
            <a:off x="2400300" y="4324350"/>
            <a:ext cx="15811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CB6BE04-855B-4627-9EE7-9816549334B9}"/>
              </a:ext>
            </a:extLst>
          </p:cNvPr>
          <p:cNvSpPr>
            <a:spLocks xmlns:a="http://schemas.openxmlformats.org/drawingml/2006/main" noGrp="1"/>
          </p:cNvSpPr>
          <p:nvPr/>
        </p:nvSpPr>
        <p:spPr>
          <a:xfrm xmlns:a="http://schemas.openxmlformats.org/drawingml/2006/main">
            <a:off x="2590800" y="449580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1 fault</a:t>
            </a:r>
          </a:p>
        </p:txBody>
      </p:sp>
      <p:sp>
        <p:nvSpPr>
          <p:cNvPr id="16" name="">
            <a:extLst xmlns:a="http://schemas.openxmlformats.org/drawingml/2006/main">
              <a:ext uri="{FF2B5EF4-FFF2-40B4-BE49-F238E27FC236}">
                <a16:creationId xmlns:a16="http://schemas.microsoft.com/office/drawing/2014/main" id="{B2417B19-AE8D-477B-82FF-5494522EC6EC}"/>
              </a:ext>
            </a:extLst>
          </p:cNvPr>
          <p:cNvSpPr>
            <a:spLocks xmlns:a="http://schemas.openxmlformats.org/drawingml/2006/main" noGrp="1"/>
          </p:cNvSpPr>
          <p:nvPr/>
        </p:nvSpPr>
        <p:spPr>
          <a:xfrm xmlns:a="http://schemas.openxmlformats.org/drawingml/2006/main">
            <a:off x="2590800" y="5010150"/>
            <a:ext cx="1200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demo snapshot</a:t>
            </a:r>
          </a:p>
        </p:txBody>
      </p:sp>
      <p:sp>
        <p:nvSpPr>
          <p:cNvPr id="17" name="">
            <a:extLst xmlns:a="http://schemas.openxmlformats.org/drawingml/2006/main">
              <a:ext uri="{FF2B5EF4-FFF2-40B4-BE49-F238E27FC236}">
                <a16:creationId xmlns:a16="http://schemas.microsoft.com/office/drawing/2014/main" id="{557CEBA9-2BAD-4278-8C17-818651253D32}"/>
              </a:ext>
            </a:extLst>
          </p:cNvPr>
          <p:cNvSpPr>
            <a:spLocks xmlns:a="http://schemas.openxmlformats.org/drawingml/2006/main" noGrp="1"/>
          </p:cNvSpPr>
          <p:nvPr/>
        </p:nvSpPr>
        <p:spPr>
          <a:xfrm xmlns:a="http://schemas.openxmlformats.org/drawingml/2006/main">
            <a:off x="2590800" y="5105400"/>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plus 2 uncertain events</a:t>
            </a:r>
          </a:p>
        </p:txBody>
      </p:sp>
      <p:sp>
        <p:nvSpPr>
          <p:cNvPr id="18" name="">
            <a:extLst xmlns:a="http://schemas.openxmlformats.org/drawingml/2006/main">
              <a:ext uri="{FF2B5EF4-FFF2-40B4-BE49-F238E27FC236}">
                <a16:creationId xmlns:a16="http://schemas.microsoft.com/office/drawing/2014/main" id="{5F6FAB54-5461-4C4E-91A2-AFF65959E296}"/>
              </a:ext>
            </a:extLst>
          </p:cNvPr>
          <p:cNvSpPr>
            <a:spLocks xmlns:a="http://schemas.openxmlformats.org/drawingml/2006/main" noGrp="1"/>
          </p:cNvSpPr>
          <p:nvPr/>
        </p:nvSpPr>
        <p:spPr>
          <a:xfrm xmlns:a="http://schemas.openxmlformats.org/drawingml/2006/main">
            <a:off x="4114800" y="4324350"/>
            <a:ext cx="15811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855A1453-9D38-47A7-B5AF-A1764E920177}"/>
              </a:ext>
            </a:extLst>
          </p:cNvPr>
          <p:cNvSpPr>
            <a:spLocks xmlns:a="http://schemas.openxmlformats.org/drawingml/2006/main" noGrp="1"/>
          </p:cNvSpPr>
          <p:nvPr/>
        </p:nvSpPr>
        <p:spPr>
          <a:xfrm xmlns:a="http://schemas.openxmlformats.org/drawingml/2006/main">
            <a:off x="4114800" y="4324350"/>
            <a:ext cx="1581150" cy="57150"/>
          </a:xfrm>
          <a:prstGeom xmlns:a="http://schemas.openxmlformats.org/drawingml/2006/main" prst="rect">
            <a:avLst/>
          </a:prstGeom>
          <a:solidFill xmlns:a="http://schemas.openxmlformats.org/drawingml/2006/main">
            <a:srgbClr val="60A5F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92C69BA-0058-4AB9-9497-257BC9424089}"/>
              </a:ext>
            </a:extLst>
          </p:cNvPr>
          <p:cNvSpPr>
            <a:spLocks xmlns:a="http://schemas.openxmlformats.org/drawingml/2006/main" noGrp="1"/>
          </p:cNvSpPr>
          <p:nvPr/>
        </p:nvSpPr>
        <p:spPr>
          <a:xfrm xmlns:a="http://schemas.openxmlformats.org/drawingml/2006/main">
            <a:off x="4305300" y="449580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4928"/>
          </a:bodyPr>
          <a:lstStyle xmlns:a="http://schemas.openxmlformats.org/drawingml/2006/main"/>
          <a:p xmlns:a="http://schemas.openxmlformats.org/drawingml/2006/main">
            <a:pPr algn="l">
              <a:defRPr sz="2250" b="1">
                <a:solidFill>
                  <a:srgbClr val="111827"/>
                </a:solidFill>
              </a:defRPr>
            </a:pPr>
            <a:r>
              <a:rPr sz="2250" b="1">
                <a:solidFill>
                  <a:srgbClr val="111827"/>
                </a:solidFill>
              </a:rPr>
              <a:t>1 camera</a:t>
            </a:r>
          </a:p>
        </p:txBody>
      </p:sp>
      <p:sp>
        <p:nvSpPr>
          <p:cNvPr id="21" name="">
            <a:extLst xmlns:a="http://schemas.openxmlformats.org/drawingml/2006/main">
              <a:ext uri="{FF2B5EF4-FFF2-40B4-BE49-F238E27FC236}">
                <a16:creationId xmlns:a16="http://schemas.microsoft.com/office/drawing/2014/main" id="{61721745-87E3-4C42-8674-99EC4491B2FB}"/>
              </a:ext>
            </a:extLst>
          </p:cNvPr>
          <p:cNvSpPr>
            <a:spLocks xmlns:a="http://schemas.openxmlformats.org/drawingml/2006/main" noGrp="1"/>
          </p:cNvSpPr>
          <p:nvPr/>
        </p:nvSpPr>
        <p:spPr>
          <a:xfrm xmlns:a="http://schemas.openxmlformats.org/drawingml/2006/main">
            <a:off x="4305300" y="5010150"/>
            <a:ext cx="1200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capture setup</a:t>
            </a:r>
          </a:p>
        </p:txBody>
      </p:sp>
      <p:sp>
        <p:nvSpPr>
          <p:cNvPr id="22" name="">
            <a:extLst xmlns:a="http://schemas.openxmlformats.org/drawingml/2006/main">
              <a:ext uri="{FF2B5EF4-FFF2-40B4-BE49-F238E27FC236}">
                <a16:creationId xmlns:a16="http://schemas.microsoft.com/office/drawing/2014/main" id="{50597768-DA38-4323-BEC4-57EF4D9C351E}"/>
              </a:ext>
            </a:extLst>
          </p:cNvPr>
          <p:cNvSpPr>
            <a:spLocks xmlns:a="http://schemas.openxmlformats.org/drawingml/2006/main" noGrp="1"/>
          </p:cNvSpPr>
          <p:nvPr/>
        </p:nvSpPr>
        <p:spPr>
          <a:xfrm xmlns:a="http://schemas.openxmlformats.org/drawingml/2006/main">
            <a:off x="4305300" y="5105400"/>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single fixed side view</a:t>
            </a:r>
          </a:p>
        </p:txBody>
      </p:sp>
      <p:sp>
        <p:nvSpPr>
          <p:cNvPr id="23" name="">
            <a:extLst xmlns:a="http://schemas.openxmlformats.org/drawingml/2006/main">
              <a:ext uri="{FF2B5EF4-FFF2-40B4-BE49-F238E27FC236}">
                <a16:creationId xmlns:a16="http://schemas.microsoft.com/office/drawing/2014/main" id="{AEAB701C-5D08-4753-94A7-A4EF86085DA2}"/>
              </a:ext>
            </a:extLst>
          </p:cNvPr>
          <p:cNvSpPr>
            <a:spLocks xmlns:a="http://schemas.openxmlformats.org/drawingml/2006/main" noGrp="1"/>
          </p:cNvSpPr>
          <p:nvPr/>
        </p:nvSpPr>
        <p:spPr>
          <a:xfrm xmlns:a="http://schemas.openxmlformats.org/drawingml/2006/main">
            <a:off x="704850" y="5772150"/>
            <a:ext cx="51816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CE7F5"/>
                </a:solidFill>
              </a:defRPr>
            </a:pPr>
            <a:r>
              <a:rPr sz="1350" b="0">
                <a:solidFill>
                  <a:srgbClr val="DCE7F5"/>
                </a:solidFill>
              </a:rPr>
              <a:t>Main claim: geometry is the foundation, and uncertainty is better than a wrong fault call.</a:t>
            </a:r>
          </a:p>
        </p:txBody>
      </p:sp>
    </p:spTree>
    <p:extLst>
      <p:ext uri="{BB962C8B-B14F-4D97-AF65-F5344CB8AC3E}">
        <p14:creationId xmlns:p14="http://schemas.microsoft.com/office/powerpoint/2010/main" val="26280874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F0A81DE-C20B-441F-BD7C-B679A5871CCA}"/>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PROBLEM</a:t>
            </a:r>
          </a:p>
        </p:txBody>
      </p:sp>
      <p:sp>
        <p:nvSpPr>
          <p:cNvPr id="3" name="">
            <a:extLst xmlns:a="http://schemas.openxmlformats.org/drawingml/2006/main">
              <a:ext uri="{FF2B5EF4-FFF2-40B4-BE49-F238E27FC236}">
                <a16:creationId xmlns:a16="http://schemas.microsoft.com/office/drawing/2014/main" id="{6C45BB8A-CB46-4C72-9512-82A315DDEE74}"/>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02 / 10</a:t>
            </a:r>
          </a:p>
        </p:txBody>
      </p:sp>
      <p:sp>
        <p:nvSpPr>
          <p:cNvPr id="4" name="">
            <a:extLst xmlns:a="http://schemas.openxmlformats.org/drawingml/2006/main">
              <a:ext uri="{FF2B5EF4-FFF2-40B4-BE49-F238E27FC236}">
                <a16:creationId xmlns:a16="http://schemas.microsoft.com/office/drawing/2014/main" id="{AF8193F6-16BC-449F-9076-CA9AB154B061}"/>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A104389-4440-421E-98A0-9143D43BFE37}"/>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135D719-40CE-473D-A0EA-70874FBBA260}"/>
              </a:ext>
            </a:extLst>
          </p:cNvPr>
          <p:cNvSpPr>
            <a:spLocks xmlns:a="http://schemas.openxmlformats.org/drawingml/2006/main" noGrp="1"/>
          </p:cNvSpPr>
          <p:nvPr/>
        </p:nvSpPr>
        <p:spPr>
          <a:xfrm xmlns:a="http://schemas.openxmlformats.org/drawingml/2006/main">
            <a:off x="609600" y="838200"/>
            <a:ext cx="5334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11827"/>
                </a:solidFill>
              </a:defRPr>
            </a:pPr>
            <a:r>
              <a:rPr sz="2325" b="1">
                <a:solidFill>
                  <a:srgbClr val="111827"/>
                </a:solidFill>
              </a:rPr>
              <a:t>Why this problem is hard from a single camera</a:t>
            </a:r>
          </a:p>
        </p:txBody>
      </p:sp>
      <p:sp>
        <p:nvSpPr>
          <p:cNvPr id="7" name="">
            <a:extLst xmlns:a="http://schemas.openxmlformats.org/drawingml/2006/main">
              <a:ext uri="{FF2B5EF4-FFF2-40B4-BE49-F238E27FC236}">
                <a16:creationId xmlns:a16="http://schemas.microsoft.com/office/drawing/2014/main" id="{5BD401B1-F76E-410A-AB54-7AD9BDED523D}"/>
              </a:ext>
            </a:extLst>
          </p:cNvPr>
          <p:cNvSpPr>
            <a:spLocks xmlns:a="http://schemas.openxmlformats.org/drawingml/2006/main" noGrp="1"/>
          </p:cNvSpPr>
          <p:nvPr/>
        </p:nvSpPr>
        <p:spPr>
          <a:xfrm xmlns:a="http://schemas.openxmlformats.org/drawingml/2006/main">
            <a:off x="609600" y="1676400"/>
            <a:ext cx="52197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A foot location alone is not enough. The system has to know where the kitchen line is in the same frame, which player is active, and whether the evidence is clear enough to support a confident call.</a:t>
            </a:r>
          </a:p>
        </p:txBody>
      </p:sp>
      <p:sp>
        <p:nvSpPr>
          <p:cNvPr id="8" name="">
            <a:extLst xmlns:a="http://schemas.openxmlformats.org/drawingml/2006/main">
              <a:ext uri="{FF2B5EF4-FFF2-40B4-BE49-F238E27FC236}">
                <a16:creationId xmlns:a16="http://schemas.microsoft.com/office/drawing/2014/main" id="{F359D61C-B2E9-4D4E-99E5-181ECAEF963B}"/>
              </a:ext>
            </a:extLst>
          </p:cNvPr>
          <p:cNvSpPr>
            <a:spLocks xmlns:a="http://schemas.openxmlformats.org/drawingml/2006/main" noGrp="1"/>
          </p:cNvSpPr>
          <p:nvPr/>
        </p:nvSpPr>
        <p:spPr>
          <a:xfrm xmlns:a="http://schemas.openxmlformats.org/drawingml/2006/main">
            <a:off x="609600" y="2667000"/>
            <a:ext cx="5048250" cy="156210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DA300A33-8F19-45A2-B14C-1E54E7E892BC}"/>
              </a:ext>
            </a:extLst>
          </p:cNvPr>
          <p:cNvSpPr>
            <a:spLocks xmlns:a="http://schemas.openxmlformats.org/drawingml/2006/main" noGrp="1"/>
          </p:cNvSpPr>
          <p:nvPr/>
        </p:nvSpPr>
        <p:spPr>
          <a:xfrm xmlns:a="http://schemas.openxmlformats.org/drawingml/2006/main">
            <a:off x="609600" y="2667000"/>
            <a:ext cx="76200" cy="15621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BC6B1A4-3CF6-463C-86D4-27A20BDE396F}"/>
              </a:ext>
            </a:extLst>
          </p:cNvPr>
          <p:cNvSpPr>
            <a:spLocks xmlns:a="http://schemas.openxmlformats.org/drawingml/2006/main" noGrp="1"/>
          </p:cNvSpPr>
          <p:nvPr/>
        </p:nvSpPr>
        <p:spPr>
          <a:xfrm xmlns:a="http://schemas.openxmlformats.org/drawingml/2006/main">
            <a:off x="838200" y="2838450"/>
            <a:ext cx="466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Research questions</a:t>
            </a:r>
          </a:p>
        </p:txBody>
      </p:sp>
      <p:sp>
        <p:nvSpPr>
          <p:cNvPr id="11" name="">
            <a:extLst xmlns:a="http://schemas.openxmlformats.org/drawingml/2006/main">
              <a:ext uri="{FF2B5EF4-FFF2-40B4-BE49-F238E27FC236}">
                <a16:creationId xmlns:a16="http://schemas.microsoft.com/office/drawing/2014/main" id="{9AF4CEDE-9F54-4402-8BA0-1260CA07129E}"/>
              </a:ext>
            </a:extLst>
          </p:cNvPr>
          <p:cNvSpPr>
            <a:spLocks xmlns:a="http://schemas.openxmlformats.org/drawingml/2006/main" noGrp="1"/>
          </p:cNvSpPr>
          <p:nvPr/>
        </p:nvSpPr>
        <p:spPr>
          <a:xfrm xmlns:a="http://schemas.openxmlformats.org/drawingml/2006/main">
            <a:off x="838200" y="3181350"/>
            <a:ext cx="46482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0726"/>
          </a:bodyPr>
          <a:lstStyle xmlns:a="http://schemas.openxmlformats.org/drawingml/2006/main"/>
          <a:p xmlns:a="http://schemas.openxmlformats.org/drawingml/2006/main">
            <a:pPr algn="l">
              <a:defRPr sz="1275" b="0">
                <a:solidFill>
                  <a:srgbClr val="111827"/>
                </a:solidFill>
              </a:defRPr>
            </a:pPr>
            <a:r>
              <a:rPr sz="1275" b="0">
                <a:solidFill>
                  <a:srgbClr val="111827"/>
                </a:solidFill>
              </a:rPr>
              <a:t>• Can a side-view camera detect whether a foot stayed behind the kitchen line or crossed it?</a:t>
            </a:r>
          </a:p>
          <a:p xmlns:a="http://schemas.openxmlformats.org/drawingml/2006/main">
            <a:pPr algn="l">
              <a:defRPr sz="1275" b="0">
                <a:solidFill>
                  <a:srgbClr val="111827"/>
                </a:solidFill>
              </a:defRPr>
            </a:pPr>
            <a:r>
              <a:rPr sz="1275" b="0">
                <a:solidFill>
                  <a:srgbClr val="111827"/>
                </a:solidFill>
              </a:rPr>
              <a:t>• How sensitive is the decision to blur, occlusion, angle, and line ambiguity?</a:t>
            </a:r>
          </a:p>
          <a:p xmlns:a="http://schemas.openxmlformats.org/drawingml/2006/main">
            <a:pPr algn="l">
              <a:defRPr sz="1275" b="0">
                <a:solidFill>
                  <a:srgbClr val="111827"/>
                </a:solidFill>
              </a:defRPr>
            </a:pPr>
            <a:r>
              <a:rPr sz="1275" b="0">
                <a:solidFill>
                  <a:srgbClr val="111827"/>
                </a:solidFill>
              </a:rPr>
              <a:t>• Is it better to output uncertain than force a wrong legal or fault label?</a:t>
            </a:r>
          </a:p>
        </p:txBody>
      </p:sp>
      <p:sp>
        <p:nvSpPr>
          <p:cNvPr id="12" name="">
            <a:extLst xmlns:a="http://schemas.openxmlformats.org/drawingml/2006/main">
              <a:ext uri="{FF2B5EF4-FFF2-40B4-BE49-F238E27FC236}">
                <a16:creationId xmlns:a16="http://schemas.microsoft.com/office/drawing/2014/main" id="{C220BA2F-8BB4-4BE5-BE6A-A973CB968C1D}"/>
              </a:ext>
            </a:extLst>
          </p:cNvPr>
          <p:cNvSpPr>
            <a:spLocks xmlns:a="http://schemas.openxmlformats.org/drawingml/2006/main" noGrp="1"/>
          </p:cNvSpPr>
          <p:nvPr/>
        </p:nvSpPr>
        <p:spPr>
          <a:xfrm xmlns:a="http://schemas.openxmlformats.org/drawingml/2006/main">
            <a:off x="609600" y="4438650"/>
            <a:ext cx="50482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1430">
            <a:solidFill>
              <a:srgbClr val="CBD5E1"/>
            </a:solidFill>
            <a:prstDash val="solid"/>
          </a:ln>
        </p:spPr>
      </p:sp>
      <p:sp>
        <p:nvSpPr>
          <p:cNvPr id="13" name="">
            <a:extLst xmlns:a="http://schemas.openxmlformats.org/drawingml/2006/main">
              <a:ext uri="{FF2B5EF4-FFF2-40B4-BE49-F238E27FC236}">
                <a16:creationId xmlns:a16="http://schemas.microsoft.com/office/drawing/2014/main" id="{2CD89714-5747-4D39-B29F-9BFD32D2DABC}"/>
              </a:ext>
            </a:extLst>
          </p:cNvPr>
          <p:cNvSpPr>
            <a:spLocks xmlns:a="http://schemas.openxmlformats.org/drawingml/2006/main" noGrp="1"/>
          </p:cNvSpPr>
          <p:nvPr/>
        </p:nvSpPr>
        <p:spPr>
          <a:xfrm xmlns:a="http://schemas.openxmlformats.org/drawingml/2006/main">
            <a:off x="609600" y="4438650"/>
            <a:ext cx="76200" cy="148590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154AAED-1653-4796-9FB6-7250AD54ED68}"/>
              </a:ext>
            </a:extLst>
          </p:cNvPr>
          <p:cNvSpPr>
            <a:spLocks xmlns:a="http://schemas.openxmlformats.org/drawingml/2006/main" noGrp="1"/>
          </p:cNvSpPr>
          <p:nvPr/>
        </p:nvSpPr>
        <p:spPr>
          <a:xfrm xmlns:a="http://schemas.openxmlformats.org/drawingml/2006/main">
            <a:off x="838200" y="4610100"/>
            <a:ext cx="466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What the project must estimate</a:t>
            </a:r>
          </a:p>
        </p:txBody>
      </p:sp>
      <p:sp>
        <p:nvSpPr>
          <p:cNvPr id="15" name="">
            <a:extLst xmlns:a="http://schemas.openxmlformats.org/drawingml/2006/main">
              <a:ext uri="{FF2B5EF4-FFF2-40B4-BE49-F238E27FC236}">
                <a16:creationId xmlns:a16="http://schemas.microsoft.com/office/drawing/2014/main" id="{4544A181-4EA2-4A85-BC70-B697415678B0}"/>
              </a:ext>
            </a:extLst>
          </p:cNvPr>
          <p:cNvSpPr>
            <a:spLocks xmlns:a="http://schemas.openxmlformats.org/drawingml/2006/main" noGrp="1"/>
          </p:cNvSpPr>
          <p:nvPr/>
        </p:nvSpPr>
        <p:spPr>
          <a:xfrm xmlns:a="http://schemas.openxmlformats.org/drawingml/2006/main">
            <a:off x="838200" y="4953000"/>
            <a:ext cx="46482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 Court geometry in each frame</a:t>
            </a:r>
          </a:p>
          <a:p xmlns:a="http://schemas.openxmlformats.org/drawingml/2006/main">
            <a:pPr algn="l">
              <a:defRPr sz="1275" b="0">
                <a:solidFill>
                  <a:srgbClr val="111827"/>
                </a:solidFill>
              </a:defRPr>
            </a:pPr>
            <a:r>
              <a:rPr sz="1275" b="0">
                <a:solidFill>
                  <a:srgbClr val="111827"/>
                </a:solidFill>
              </a:rPr>
              <a:t>• Likely volley timing from the ball trajectory</a:t>
            </a:r>
          </a:p>
          <a:p xmlns:a="http://schemas.openxmlformats.org/drawingml/2006/main">
            <a:pPr algn="l">
              <a:defRPr sz="1275" b="0">
                <a:solidFill>
                  <a:srgbClr val="111827"/>
                </a:solidFill>
              </a:defRPr>
            </a:pPr>
            <a:r>
              <a:rPr sz="1275" b="0">
                <a:solidFill>
                  <a:srgbClr val="111827"/>
                </a:solidFill>
              </a:rPr>
              <a:t>• Relevant foot point and signed distance to the NVZ boundary</a:t>
            </a:r>
          </a:p>
        </p:txBody>
      </p:sp>
      <p:sp>
        <p:nvSpPr>
          <p:cNvPr id="16" name="">
            <a:extLst xmlns:a="http://schemas.openxmlformats.org/drawingml/2006/main">
              <a:ext uri="{FF2B5EF4-FFF2-40B4-BE49-F238E27FC236}">
                <a16:creationId xmlns:a16="http://schemas.microsoft.com/office/drawing/2014/main" id="{9FABAD7E-2437-4C55-AE93-3DE5EF86AA14}"/>
              </a:ext>
            </a:extLst>
          </p:cNvPr>
          <p:cNvSpPr>
            <a:spLocks xmlns:a="http://schemas.openxmlformats.org/drawingml/2006/main" noGrp="1"/>
          </p:cNvSpPr>
          <p:nvPr/>
        </p:nvSpPr>
        <p:spPr>
          <a:xfrm xmlns:a="http://schemas.openxmlformats.org/drawingml/2006/main">
            <a:off x="6115050" y="1238250"/>
            <a:ext cx="5448300" cy="4152900"/>
          </a:xfrm>
          <a:prstGeom xmlns:a="http://schemas.openxmlformats.org/drawingml/2006/main" prst="roundRect">
            <a:avLst>
              <a:gd name="adj" fmla="val 1835"/>
            </a:avLst>
          </a:prstGeom>
          <a:solidFill xmlns:a="http://schemas.openxmlformats.org/drawingml/2006/main">
            <a:srgbClr val="FFFFFF"/>
          </a:solidFill>
          <a:ln xmlns:a="http://schemas.openxmlformats.org/drawingml/2006/main" w="11430">
            <a:solidFill>
              <a:srgbClr val="CBD5E1"/>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b5db33398b24e81"/>
          <a:stretch xmlns:a="http://schemas.openxmlformats.org/drawingml/2006/main"/>
        </p:blipFill>
        <p:spPr>
          <a:xfrm xmlns:a="http://schemas.openxmlformats.org/drawingml/2006/main">
            <a:off x="6210300" y="1835944"/>
            <a:ext cx="5257800" cy="2957513"/>
          </a:xfrm>
          <a:prstGeom xmlns:a="http://schemas.openxmlformats.org/drawingml/2006/main" prst="roundRect">
            <a:avLst/>
          </a:prstGeom>
        </p:spPr>
      </p:pic>
      <p:sp>
        <p:nvSpPr>
          <p:cNvPr id="18" name="">
            <a:extLst xmlns:a="http://schemas.openxmlformats.org/drawingml/2006/main">
              <a:ext uri="{FF2B5EF4-FFF2-40B4-BE49-F238E27FC236}">
                <a16:creationId xmlns:a16="http://schemas.microsoft.com/office/drawing/2014/main" id="{861F0505-3A4F-4327-BC77-3B789812B12B}"/>
              </a:ext>
            </a:extLst>
          </p:cNvPr>
          <p:cNvSpPr>
            <a:spLocks xmlns:a="http://schemas.openxmlformats.org/drawingml/2006/main" noGrp="1"/>
          </p:cNvSpPr>
          <p:nvPr/>
        </p:nvSpPr>
        <p:spPr>
          <a:xfrm xmlns:a="http://schemas.openxmlformats.org/drawingml/2006/main">
            <a:off x="6115050" y="5562600"/>
            <a:ext cx="544830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51B9D48B-839C-4B99-83B8-D5D73270AE42}"/>
              </a:ext>
            </a:extLst>
          </p:cNvPr>
          <p:cNvSpPr>
            <a:spLocks xmlns:a="http://schemas.openxmlformats.org/drawingml/2006/main" noGrp="1"/>
          </p:cNvSpPr>
          <p:nvPr/>
        </p:nvSpPr>
        <p:spPr>
          <a:xfrm xmlns:a="http://schemas.openxmlformats.org/drawingml/2006/main">
            <a:off x="6115050" y="5562600"/>
            <a:ext cx="76200" cy="9334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E18D8CA-3DA9-406A-8EAE-34EF6659485D}"/>
              </a:ext>
            </a:extLst>
          </p:cNvPr>
          <p:cNvSpPr>
            <a:spLocks xmlns:a="http://schemas.openxmlformats.org/drawingml/2006/main" noGrp="1"/>
          </p:cNvSpPr>
          <p:nvPr/>
        </p:nvSpPr>
        <p:spPr>
          <a:xfrm xmlns:a="http://schemas.openxmlformats.org/drawingml/2006/main">
            <a:off x="6362700" y="5734050"/>
            <a:ext cx="5010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Key takeaway</a:t>
            </a:r>
          </a:p>
        </p:txBody>
      </p:sp>
      <p:sp>
        <p:nvSpPr>
          <p:cNvPr id="21" name="">
            <a:extLst xmlns:a="http://schemas.openxmlformats.org/drawingml/2006/main">
              <a:ext uri="{FF2B5EF4-FFF2-40B4-BE49-F238E27FC236}">
                <a16:creationId xmlns:a16="http://schemas.microsoft.com/office/drawing/2014/main" id="{D7187FF1-C331-4249-BE5B-16B4834DA75F}"/>
              </a:ext>
            </a:extLst>
          </p:cNvPr>
          <p:cNvSpPr>
            <a:spLocks xmlns:a="http://schemas.openxmlformats.org/drawingml/2006/main" noGrp="1"/>
          </p:cNvSpPr>
          <p:nvPr/>
        </p:nvSpPr>
        <p:spPr>
          <a:xfrm xmlns:a="http://schemas.openxmlformats.org/drawingml/2006/main">
            <a:off x="6362700" y="6076950"/>
            <a:ext cx="5010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69030"/>
          </a:bodyPr>
          <a:lstStyle xmlns:a="http://schemas.openxmlformats.org/drawingml/2006/main"/>
          <a:p xmlns:a="http://schemas.openxmlformats.org/drawingml/2006/main">
            <a:pPr algn="l">
              <a:defRPr sz="1275" b="0">
                <a:solidFill>
                  <a:srgbClr val="111827"/>
                </a:solidFill>
              </a:defRPr>
            </a:pPr>
            <a:r>
              <a:rPr sz="1275" b="0">
                <a:solidFill>
                  <a:srgbClr val="111827"/>
                </a:solidFill>
              </a:rPr>
              <a:t>Geometry is the foundation. Without a stable kitchen-line estimate, every later label becomes hard to trust.</a:t>
            </a:r>
          </a:p>
        </p:txBody>
      </p:sp>
    </p:spTree>
    <p:extLst>
      <p:ext uri="{BB962C8B-B14F-4D97-AF65-F5344CB8AC3E}">
        <p14:creationId xmlns:p14="http://schemas.microsoft.com/office/powerpoint/2010/main" val="1222027604"/>
      </p:ext>
    </p:extLst>
  </p:cSld>
</p:sld>
</file>

<file path=ppt/slides/slide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00BF527-DE87-4D2B-859F-B47FEA10B23A}"/>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PIPELINE</a:t>
            </a:r>
          </a:p>
        </p:txBody>
      </p:sp>
      <p:sp>
        <p:nvSpPr>
          <p:cNvPr id="3" name="">
            <a:extLst xmlns:a="http://schemas.openxmlformats.org/drawingml/2006/main">
              <a:ext uri="{FF2B5EF4-FFF2-40B4-BE49-F238E27FC236}">
                <a16:creationId xmlns:a16="http://schemas.microsoft.com/office/drawing/2014/main" id="{F8313B38-9438-4AB0-A16D-DC51ABC78472}"/>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03 / 10</a:t>
            </a:r>
          </a:p>
        </p:txBody>
      </p:sp>
      <p:sp>
        <p:nvSpPr>
          <p:cNvPr id="4" name="">
            <a:extLst xmlns:a="http://schemas.openxmlformats.org/drawingml/2006/main">
              <a:ext uri="{FF2B5EF4-FFF2-40B4-BE49-F238E27FC236}">
                <a16:creationId xmlns:a16="http://schemas.microsoft.com/office/drawing/2014/main" id="{A253919E-D205-400F-96EA-67AF9887F495}"/>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A0BEF1B-D948-4DAE-88FC-C20E31D0BA5A}"/>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9281BE2-B4F8-4591-BFA1-B533852D8311}"/>
              </a:ext>
            </a:extLst>
          </p:cNvPr>
          <p:cNvSpPr>
            <a:spLocks xmlns:a="http://schemas.openxmlformats.org/drawingml/2006/main" noGrp="1"/>
          </p:cNvSpPr>
          <p:nvPr/>
        </p:nvSpPr>
        <p:spPr>
          <a:xfrm xmlns:a="http://schemas.openxmlformats.org/drawingml/2006/main">
            <a:off x="609600" y="838200"/>
            <a:ext cx="5334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11827"/>
                </a:solidFill>
              </a:defRPr>
            </a:pPr>
            <a:r>
              <a:rPr sz="2325" b="1">
                <a:solidFill>
                  <a:srgbClr val="111827"/>
                </a:solidFill>
              </a:rPr>
              <a:t>Pipeline overview: from video to decision</a:t>
            </a:r>
          </a:p>
        </p:txBody>
      </p:sp>
      <p:sp>
        <p:nvSpPr>
          <p:cNvPr id="7" name="">
            <a:extLst xmlns:a="http://schemas.openxmlformats.org/drawingml/2006/main">
              <a:ext uri="{FF2B5EF4-FFF2-40B4-BE49-F238E27FC236}">
                <a16:creationId xmlns:a16="http://schemas.microsoft.com/office/drawing/2014/main" id="{159DCEB4-D696-4A97-B0F7-9ED6283F88EE}"/>
              </a:ext>
            </a:extLst>
          </p:cNvPr>
          <p:cNvSpPr>
            <a:spLocks xmlns:a="http://schemas.openxmlformats.org/drawingml/2006/main" noGrp="1"/>
          </p:cNvSpPr>
          <p:nvPr/>
        </p:nvSpPr>
        <p:spPr>
          <a:xfrm xmlns:a="http://schemas.openxmlformats.org/drawingml/2006/main">
            <a:off x="609600" y="16573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The current system is a configurable pipeline: register the court, track the ball, infer events, localize the relevant foot, then apply a signed-distance rule with an uncertainty margin.</a:t>
            </a:r>
          </a:p>
        </p:txBody>
      </p:sp>
      <p:sp>
        <p:nvSpPr>
          <p:cNvPr id="8" name="">
            <a:extLst xmlns:a="http://schemas.openxmlformats.org/drawingml/2006/main">
              <a:ext uri="{FF2B5EF4-FFF2-40B4-BE49-F238E27FC236}">
                <a16:creationId xmlns:a16="http://schemas.microsoft.com/office/drawing/2014/main" id="{7654F88B-390D-418D-BD05-35628C688E41}"/>
              </a:ext>
            </a:extLst>
          </p:cNvPr>
          <p:cNvSpPr>
            <a:spLocks xmlns:a="http://schemas.openxmlformats.org/drawingml/2006/main" noGrp="1"/>
          </p:cNvSpPr>
          <p:nvPr/>
        </p:nvSpPr>
        <p:spPr>
          <a:xfrm xmlns:a="http://schemas.openxmlformats.org/drawingml/2006/main">
            <a:off x="609600" y="2590800"/>
            <a:ext cx="33337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9C079AE9-C84C-4F68-88FA-5BAF3AA6271C}"/>
              </a:ext>
            </a:extLst>
          </p:cNvPr>
          <p:cNvSpPr>
            <a:spLocks xmlns:a="http://schemas.openxmlformats.org/drawingml/2006/main" noGrp="1"/>
          </p:cNvSpPr>
          <p:nvPr/>
        </p:nvSpPr>
        <p:spPr>
          <a:xfrm xmlns:a="http://schemas.openxmlformats.org/drawingml/2006/main">
            <a:off x="781050" y="2762250"/>
            <a:ext cx="361950" cy="36195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93DBF29-9D71-4E06-AF9A-4666822744FB}"/>
              </a:ext>
            </a:extLst>
          </p:cNvPr>
          <p:cNvSpPr>
            <a:spLocks xmlns:a="http://schemas.openxmlformats.org/drawingml/2006/main" noGrp="1"/>
          </p:cNvSpPr>
          <p:nvPr/>
        </p:nvSpPr>
        <p:spPr>
          <a:xfrm xmlns:a="http://schemas.openxmlformats.org/drawingml/2006/main">
            <a:off x="866775" y="28289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11" name="">
            <a:extLst xmlns:a="http://schemas.openxmlformats.org/drawingml/2006/main">
              <a:ext uri="{FF2B5EF4-FFF2-40B4-BE49-F238E27FC236}">
                <a16:creationId xmlns:a16="http://schemas.microsoft.com/office/drawing/2014/main" id="{0D58C56F-E073-42E3-9E68-AE2DEA1826A1}"/>
              </a:ext>
            </a:extLst>
          </p:cNvPr>
          <p:cNvSpPr>
            <a:spLocks xmlns:a="http://schemas.openxmlformats.org/drawingml/2006/main" noGrp="1"/>
          </p:cNvSpPr>
          <p:nvPr/>
        </p:nvSpPr>
        <p:spPr>
          <a:xfrm xmlns:a="http://schemas.openxmlformats.org/drawingml/2006/main">
            <a:off x="1276350" y="27622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827"/>
                </a:solidFill>
              </a:defRPr>
            </a:pPr>
            <a:r>
              <a:rPr sz="1275" b="1">
                <a:solidFill>
                  <a:srgbClr val="111827"/>
                </a:solidFill>
              </a:rPr>
              <a:t>Court registration</a:t>
            </a:r>
          </a:p>
        </p:txBody>
      </p:sp>
      <p:sp>
        <p:nvSpPr>
          <p:cNvPr id="12" name="">
            <a:extLst xmlns:a="http://schemas.openxmlformats.org/drawingml/2006/main">
              <a:ext uri="{FF2B5EF4-FFF2-40B4-BE49-F238E27FC236}">
                <a16:creationId xmlns:a16="http://schemas.microsoft.com/office/drawing/2014/main" id="{09AD552F-1367-4B75-A3B9-DE61B133DFE7}"/>
              </a:ext>
            </a:extLst>
          </p:cNvPr>
          <p:cNvSpPr>
            <a:spLocks xmlns:a="http://schemas.openxmlformats.org/drawingml/2006/main" noGrp="1"/>
          </p:cNvSpPr>
          <p:nvPr/>
        </p:nvSpPr>
        <p:spPr>
          <a:xfrm xmlns:a="http://schemas.openxmlformats.org/drawingml/2006/main">
            <a:off x="838200" y="3219450"/>
            <a:ext cx="2876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0457"/>
          </a:bodyPr>
          <a:lstStyle xmlns:a="http://schemas.openxmlformats.org/drawingml/2006/main"/>
          <a:p xmlns:a="http://schemas.openxmlformats.org/drawingml/2006/main">
            <a:pPr algn="l">
              <a:defRPr sz="1125" b="0">
                <a:solidFill>
                  <a:srgbClr val="334155"/>
                </a:solidFill>
              </a:defRPr>
            </a:pPr>
            <a:r>
              <a:rPr sz="1125" b="0">
                <a:solidFill>
                  <a:srgbClr val="334155"/>
                </a:solidFill>
              </a:rPr>
              <a:t>Estimate where the kitchen boundaries are in each frame using anchor points and ORB-based stabilization.</a:t>
            </a:r>
          </a:p>
        </p:txBody>
      </p:sp>
      <p:sp>
        <p:nvSpPr>
          <p:cNvPr id="13" name="">
            <a:extLst xmlns:a="http://schemas.openxmlformats.org/drawingml/2006/main">
              <a:ext uri="{FF2B5EF4-FFF2-40B4-BE49-F238E27FC236}">
                <a16:creationId xmlns:a16="http://schemas.microsoft.com/office/drawing/2014/main" id="{CB9975BD-2FE5-4266-B898-24CD540E0F8B}"/>
              </a:ext>
            </a:extLst>
          </p:cNvPr>
          <p:cNvSpPr>
            <a:spLocks xmlns:a="http://schemas.openxmlformats.org/drawingml/2006/main" noGrp="1"/>
          </p:cNvSpPr>
          <p:nvPr/>
        </p:nvSpPr>
        <p:spPr>
          <a:xfrm xmlns:a="http://schemas.openxmlformats.org/drawingml/2006/main">
            <a:off x="4210050" y="2590800"/>
            <a:ext cx="33337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1430">
            <a:solidFill>
              <a:srgbClr val="CBD5E1"/>
            </a:solidFill>
            <a:prstDash val="solid"/>
          </a:ln>
        </p:spPr>
      </p:sp>
      <p:sp>
        <p:nvSpPr>
          <p:cNvPr id="14" name="">
            <a:extLst xmlns:a="http://schemas.openxmlformats.org/drawingml/2006/main">
              <a:ext uri="{FF2B5EF4-FFF2-40B4-BE49-F238E27FC236}">
                <a16:creationId xmlns:a16="http://schemas.microsoft.com/office/drawing/2014/main" id="{4CB76162-7B6F-4554-9971-BD084C3865D1}"/>
              </a:ext>
            </a:extLst>
          </p:cNvPr>
          <p:cNvSpPr>
            <a:spLocks xmlns:a="http://schemas.openxmlformats.org/drawingml/2006/main" noGrp="1"/>
          </p:cNvSpPr>
          <p:nvPr/>
        </p:nvSpPr>
        <p:spPr>
          <a:xfrm xmlns:a="http://schemas.openxmlformats.org/drawingml/2006/main">
            <a:off x="4381500" y="2762250"/>
            <a:ext cx="361950" cy="361950"/>
          </a:xfrm>
          <a:prstGeom xmlns:a="http://schemas.openxmlformats.org/drawingml/2006/main" prst="ellipse">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C7AAE66-AB4C-4E1B-A6AD-D507338FD015}"/>
              </a:ext>
            </a:extLst>
          </p:cNvPr>
          <p:cNvSpPr>
            <a:spLocks xmlns:a="http://schemas.openxmlformats.org/drawingml/2006/main" noGrp="1"/>
          </p:cNvSpPr>
          <p:nvPr/>
        </p:nvSpPr>
        <p:spPr>
          <a:xfrm xmlns:a="http://schemas.openxmlformats.org/drawingml/2006/main">
            <a:off x="4467225" y="28289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6" name="">
            <a:extLst xmlns:a="http://schemas.openxmlformats.org/drawingml/2006/main">
              <a:ext uri="{FF2B5EF4-FFF2-40B4-BE49-F238E27FC236}">
                <a16:creationId xmlns:a16="http://schemas.microsoft.com/office/drawing/2014/main" id="{631D8BAC-A348-4F4D-BD39-1DB7C83BDA31}"/>
              </a:ext>
            </a:extLst>
          </p:cNvPr>
          <p:cNvSpPr>
            <a:spLocks xmlns:a="http://schemas.openxmlformats.org/drawingml/2006/main" noGrp="1"/>
          </p:cNvSpPr>
          <p:nvPr/>
        </p:nvSpPr>
        <p:spPr>
          <a:xfrm xmlns:a="http://schemas.openxmlformats.org/drawingml/2006/main">
            <a:off x="4876800" y="27622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827"/>
                </a:solidFill>
              </a:defRPr>
            </a:pPr>
            <a:r>
              <a:rPr sz="1275" b="1">
                <a:solidFill>
                  <a:srgbClr val="111827"/>
                </a:solidFill>
              </a:rPr>
              <a:t>Ball tracking</a:t>
            </a:r>
          </a:p>
        </p:txBody>
      </p:sp>
      <p:sp>
        <p:nvSpPr>
          <p:cNvPr id="17" name="">
            <a:extLst xmlns:a="http://schemas.openxmlformats.org/drawingml/2006/main">
              <a:ext uri="{FF2B5EF4-FFF2-40B4-BE49-F238E27FC236}">
                <a16:creationId xmlns:a16="http://schemas.microsoft.com/office/drawing/2014/main" id="{61F933AB-8D56-438C-9E88-268E2FAAF3D3}"/>
              </a:ext>
            </a:extLst>
          </p:cNvPr>
          <p:cNvSpPr>
            <a:spLocks xmlns:a="http://schemas.openxmlformats.org/drawingml/2006/main" noGrp="1"/>
          </p:cNvSpPr>
          <p:nvPr/>
        </p:nvSpPr>
        <p:spPr>
          <a:xfrm xmlns:a="http://schemas.openxmlformats.org/drawingml/2006/main">
            <a:off x="4438650" y="3219450"/>
            <a:ext cx="2876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Track the ball trajectory and export candidate positions plus debug overlays.</a:t>
            </a:r>
          </a:p>
        </p:txBody>
      </p:sp>
      <p:sp>
        <p:nvSpPr>
          <p:cNvPr id="18" name="">
            <a:extLst xmlns:a="http://schemas.openxmlformats.org/drawingml/2006/main">
              <a:ext uri="{FF2B5EF4-FFF2-40B4-BE49-F238E27FC236}">
                <a16:creationId xmlns:a16="http://schemas.microsoft.com/office/drawing/2014/main" id="{AF886A99-48B1-4DB9-A119-CD29F6E5D5A1}"/>
              </a:ext>
            </a:extLst>
          </p:cNvPr>
          <p:cNvSpPr>
            <a:spLocks xmlns:a="http://schemas.openxmlformats.org/drawingml/2006/main" noGrp="1"/>
          </p:cNvSpPr>
          <p:nvPr/>
        </p:nvSpPr>
        <p:spPr>
          <a:xfrm xmlns:a="http://schemas.openxmlformats.org/drawingml/2006/main">
            <a:off x="7810500" y="2590800"/>
            <a:ext cx="33337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FD6CFD60-5E3C-4D47-9BF1-E3C64BB52299}"/>
              </a:ext>
            </a:extLst>
          </p:cNvPr>
          <p:cNvSpPr>
            <a:spLocks xmlns:a="http://schemas.openxmlformats.org/drawingml/2006/main" noGrp="1"/>
          </p:cNvSpPr>
          <p:nvPr/>
        </p:nvSpPr>
        <p:spPr>
          <a:xfrm xmlns:a="http://schemas.openxmlformats.org/drawingml/2006/main">
            <a:off x="7981950" y="2762250"/>
            <a:ext cx="361950" cy="361950"/>
          </a:xfrm>
          <a:prstGeom xmlns:a="http://schemas.openxmlformats.org/drawingml/2006/main" prst="ellipse">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DEA2C1C-6396-4E42-AF11-77E4C035BC0D}"/>
              </a:ext>
            </a:extLst>
          </p:cNvPr>
          <p:cNvSpPr>
            <a:spLocks xmlns:a="http://schemas.openxmlformats.org/drawingml/2006/main" noGrp="1"/>
          </p:cNvSpPr>
          <p:nvPr/>
        </p:nvSpPr>
        <p:spPr>
          <a:xfrm xmlns:a="http://schemas.openxmlformats.org/drawingml/2006/main">
            <a:off x="8067675" y="28289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21" name="">
            <a:extLst xmlns:a="http://schemas.openxmlformats.org/drawingml/2006/main">
              <a:ext uri="{FF2B5EF4-FFF2-40B4-BE49-F238E27FC236}">
                <a16:creationId xmlns:a16="http://schemas.microsoft.com/office/drawing/2014/main" id="{182AF3F6-5BE4-4E46-A1E8-953017AFD8C4}"/>
              </a:ext>
            </a:extLst>
          </p:cNvPr>
          <p:cNvSpPr>
            <a:spLocks xmlns:a="http://schemas.openxmlformats.org/drawingml/2006/main" noGrp="1"/>
          </p:cNvSpPr>
          <p:nvPr/>
        </p:nvSpPr>
        <p:spPr>
          <a:xfrm xmlns:a="http://schemas.openxmlformats.org/drawingml/2006/main">
            <a:off x="8477250" y="27622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827"/>
                </a:solidFill>
              </a:defRPr>
            </a:pPr>
            <a:r>
              <a:rPr sz="1275" b="1">
                <a:solidFill>
                  <a:srgbClr val="111827"/>
                </a:solidFill>
              </a:rPr>
              <a:t>Event inference</a:t>
            </a:r>
          </a:p>
        </p:txBody>
      </p:sp>
      <p:sp>
        <p:nvSpPr>
          <p:cNvPr id="22" name="">
            <a:extLst xmlns:a="http://schemas.openxmlformats.org/drawingml/2006/main">
              <a:ext uri="{FF2B5EF4-FFF2-40B4-BE49-F238E27FC236}">
                <a16:creationId xmlns:a16="http://schemas.microsoft.com/office/drawing/2014/main" id="{A709105B-2C2D-41CD-9321-CC30F7084AD2}"/>
              </a:ext>
            </a:extLst>
          </p:cNvPr>
          <p:cNvSpPr>
            <a:spLocks xmlns:a="http://schemas.openxmlformats.org/drawingml/2006/main" noGrp="1"/>
          </p:cNvSpPr>
          <p:nvPr/>
        </p:nvSpPr>
        <p:spPr>
          <a:xfrm xmlns:a="http://schemas.openxmlformats.org/drawingml/2006/main">
            <a:off x="8039100" y="3219450"/>
            <a:ext cx="2876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Convert the trajectory into bounce or volley timing hypotheses for likely review frames.</a:t>
            </a:r>
          </a:p>
        </p:txBody>
      </p:sp>
      <p:sp>
        <p:nvSpPr>
          <p:cNvPr id="23" name="">
            <a:extLst xmlns:a="http://schemas.openxmlformats.org/drawingml/2006/main">
              <a:ext uri="{FF2B5EF4-FFF2-40B4-BE49-F238E27FC236}">
                <a16:creationId xmlns:a16="http://schemas.microsoft.com/office/drawing/2014/main" id="{C2043A2B-C8D7-4173-99AE-0DE65583043E}"/>
              </a:ext>
            </a:extLst>
          </p:cNvPr>
          <p:cNvSpPr>
            <a:spLocks xmlns:a="http://schemas.openxmlformats.org/drawingml/2006/main" noGrp="1"/>
          </p:cNvSpPr>
          <p:nvPr/>
        </p:nvSpPr>
        <p:spPr>
          <a:xfrm xmlns:a="http://schemas.openxmlformats.org/drawingml/2006/main">
            <a:off x="1524000" y="4114800"/>
            <a:ext cx="33337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1430">
            <a:solidFill>
              <a:srgbClr val="CBD5E1"/>
            </a:solidFill>
            <a:prstDash val="solid"/>
          </a:ln>
        </p:spPr>
      </p:sp>
      <p:sp>
        <p:nvSpPr>
          <p:cNvPr id="24" name="">
            <a:extLst xmlns:a="http://schemas.openxmlformats.org/drawingml/2006/main">
              <a:ext uri="{FF2B5EF4-FFF2-40B4-BE49-F238E27FC236}">
                <a16:creationId xmlns:a16="http://schemas.microsoft.com/office/drawing/2014/main" id="{F079FFDA-91BD-489E-857A-AB12E672D865}"/>
              </a:ext>
            </a:extLst>
          </p:cNvPr>
          <p:cNvSpPr>
            <a:spLocks xmlns:a="http://schemas.openxmlformats.org/drawingml/2006/main" noGrp="1"/>
          </p:cNvSpPr>
          <p:nvPr/>
        </p:nvSpPr>
        <p:spPr>
          <a:xfrm xmlns:a="http://schemas.openxmlformats.org/drawingml/2006/main">
            <a:off x="1695450" y="4286250"/>
            <a:ext cx="361950" cy="361950"/>
          </a:xfrm>
          <a:prstGeom xmlns:a="http://schemas.openxmlformats.org/drawingml/2006/main" prst="ellipse">
            <a:avLst/>
          </a:prstGeom>
          <a:solidFill xmlns:a="http://schemas.openxmlformats.org/drawingml/2006/main">
            <a:srgbClr val="60A5F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77D7F6F-38C5-490B-A666-C82B496BFC79}"/>
              </a:ext>
            </a:extLst>
          </p:cNvPr>
          <p:cNvSpPr>
            <a:spLocks xmlns:a="http://schemas.openxmlformats.org/drawingml/2006/main" noGrp="1"/>
          </p:cNvSpPr>
          <p:nvPr/>
        </p:nvSpPr>
        <p:spPr>
          <a:xfrm xmlns:a="http://schemas.openxmlformats.org/drawingml/2006/main">
            <a:off x="1781175" y="43529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defRPr>
            </a:pPr>
            <a:r>
              <a:rPr sz="1050" b="1">
                <a:solidFill>
                  <a:srgbClr val="FFFFFF"/>
                </a:solidFill>
              </a:rPr>
              <a:t>4</a:t>
            </a:r>
          </a:p>
        </p:txBody>
      </p:sp>
      <p:sp>
        <p:nvSpPr>
          <p:cNvPr id="26" name="">
            <a:extLst xmlns:a="http://schemas.openxmlformats.org/drawingml/2006/main">
              <a:ext uri="{FF2B5EF4-FFF2-40B4-BE49-F238E27FC236}">
                <a16:creationId xmlns:a16="http://schemas.microsoft.com/office/drawing/2014/main" id="{B3AC2D62-9E64-4BDC-8371-D25CE9158F44}"/>
              </a:ext>
            </a:extLst>
          </p:cNvPr>
          <p:cNvSpPr>
            <a:spLocks xmlns:a="http://schemas.openxmlformats.org/drawingml/2006/main" noGrp="1"/>
          </p:cNvSpPr>
          <p:nvPr/>
        </p:nvSpPr>
        <p:spPr>
          <a:xfrm xmlns:a="http://schemas.openxmlformats.org/drawingml/2006/main">
            <a:off x="2190750" y="42862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827"/>
                </a:solidFill>
              </a:defRPr>
            </a:pPr>
            <a:r>
              <a:rPr sz="1275" b="1">
                <a:solidFill>
                  <a:srgbClr val="111827"/>
                </a:solidFill>
              </a:rPr>
              <a:t>Foot localization</a:t>
            </a:r>
          </a:p>
        </p:txBody>
      </p:sp>
      <p:sp>
        <p:nvSpPr>
          <p:cNvPr id="27" name="">
            <a:extLst xmlns:a="http://schemas.openxmlformats.org/drawingml/2006/main">
              <a:ext uri="{FF2B5EF4-FFF2-40B4-BE49-F238E27FC236}">
                <a16:creationId xmlns:a16="http://schemas.microsoft.com/office/drawing/2014/main" id="{94C35D6D-B42F-4BD2-92DA-A80705B26025}"/>
              </a:ext>
            </a:extLst>
          </p:cNvPr>
          <p:cNvSpPr>
            <a:spLocks xmlns:a="http://schemas.openxmlformats.org/drawingml/2006/main" noGrp="1"/>
          </p:cNvSpPr>
          <p:nvPr/>
        </p:nvSpPr>
        <p:spPr>
          <a:xfrm xmlns:a="http://schemas.openxmlformats.org/drawingml/2006/main">
            <a:off x="1752600" y="4743450"/>
            <a:ext cx="2876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103"/>
          </a:bodyPr>
          <a:lstStyle xmlns:a="http://schemas.openxmlformats.org/drawingml/2006/main"/>
          <a:p xmlns:a="http://schemas.openxmlformats.org/drawingml/2006/main">
            <a:pPr algn="l">
              <a:defRPr sz="1125" b="0">
                <a:solidFill>
                  <a:srgbClr val="334155"/>
                </a:solidFill>
              </a:defRPr>
            </a:pPr>
            <a:r>
              <a:rPr sz="1125" b="0">
                <a:solidFill>
                  <a:srgbClr val="334155"/>
                </a:solidFill>
              </a:rPr>
              <a:t>Estimate the relevant contact point using the event_hybrid foot localizer and ROI constraints.</a:t>
            </a:r>
          </a:p>
        </p:txBody>
      </p:sp>
      <p:sp>
        <p:nvSpPr>
          <p:cNvPr id="28" name="">
            <a:extLst xmlns:a="http://schemas.openxmlformats.org/drawingml/2006/main">
              <a:ext uri="{FF2B5EF4-FFF2-40B4-BE49-F238E27FC236}">
                <a16:creationId xmlns:a16="http://schemas.microsoft.com/office/drawing/2014/main" id="{9C6BF5DD-2EB7-4E73-B9DA-C089EED1CE4A}"/>
              </a:ext>
            </a:extLst>
          </p:cNvPr>
          <p:cNvSpPr>
            <a:spLocks xmlns:a="http://schemas.openxmlformats.org/drawingml/2006/main" noGrp="1"/>
          </p:cNvSpPr>
          <p:nvPr/>
        </p:nvSpPr>
        <p:spPr>
          <a:xfrm xmlns:a="http://schemas.openxmlformats.org/drawingml/2006/main">
            <a:off x="5162550" y="4114800"/>
            <a:ext cx="33337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1430">
            <a:solidFill>
              <a:srgbClr val="CBD5E1"/>
            </a:solidFill>
            <a:prstDash val="solid"/>
          </a:ln>
        </p:spPr>
      </p:sp>
      <p:sp>
        <p:nvSpPr>
          <p:cNvPr id="29" name="">
            <a:extLst xmlns:a="http://schemas.openxmlformats.org/drawingml/2006/main">
              <a:ext uri="{FF2B5EF4-FFF2-40B4-BE49-F238E27FC236}">
                <a16:creationId xmlns:a16="http://schemas.microsoft.com/office/drawing/2014/main" id="{70CF07AB-6139-402D-9F3A-D6CD8E13EB62}"/>
              </a:ext>
            </a:extLst>
          </p:cNvPr>
          <p:cNvSpPr>
            <a:spLocks xmlns:a="http://schemas.openxmlformats.org/drawingml/2006/main" noGrp="1"/>
          </p:cNvSpPr>
          <p:nvPr/>
        </p:nvSpPr>
        <p:spPr>
          <a:xfrm xmlns:a="http://schemas.openxmlformats.org/drawingml/2006/main">
            <a:off x="5334000" y="4286250"/>
            <a:ext cx="361950" cy="36195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C91D927-1C45-4959-BCB9-09B7ADE8059F}"/>
              </a:ext>
            </a:extLst>
          </p:cNvPr>
          <p:cNvSpPr>
            <a:spLocks xmlns:a="http://schemas.openxmlformats.org/drawingml/2006/main" noGrp="1"/>
          </p:cNvSpPr>
          <p:nvPr/>
        </p:nvSpPr>
        <p:spPr>
          <a:xfrm xmlns:a="http://schemas.openxmlformats.org/drawingml/2006/main">
            <a:off x="5419725" y="43529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defRPr>
            </a:pPr>
            <a:r>
              <a:rPr sz="1050" b="1">
                <a:solidFill>
                  <a:srgbClr val="FFFFFF"/>
                </a:solidFill>
              </a:rPr>
              <a:t>5</a:t>
            </a:r>
          </a:p>
        </p:txBody>
      </p:sp>
      <p:sp>
        <p:nvSpPr>
          <p:cNvPr id="31" name="">
            <a:extLst xmlns:a="http://schemas.openxmlformats.org/drawingml/2006/main">
              <a:ext uri="{FF2B5EF4-FFF2-40B4-BE49-F238E27FC236}">
                <a16:creationId xmlns:a16="http://schemas.microsoft.com/office/drawing/2014/main" id="{20BE2977-1A7F-4231-9119-003C255FE2D6}"/>
              </a:ext>
            </a:extLst>
          </p:cNvPr>
          <p:cNvSpPr>
            <a:spLocks xmlns:a="http://schemas.openxmlformats.org/drawingml/2006/main" noGrp="1"/>
          </p:cNvSpPr>
          <p:nvPr/>
        </p:nvSpPr>
        <p:spPr>
          <a:xfrm xmlns:a="http://schemas.openxmlformats.org/drawingml/2006/main">
            <a:off x="5829300" y="42862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827"/>
                </a:solidFill>
              </a:defRPr>
            </a:pPr>
            <a:r>
              <a:rPr sz="1275" b="1">
                <a:solidFill>
                  <a:srgbClr val="111827"/>
                </a:solidFill>
              </a:rPr>
              <a:t>Signed-distance label</a:t>
            </a:r>
          </a:p>
        </p:txBody>
      </p:sp>
      <p:sp>
        <p:nvSpPr>
          <p:cNvPr id="32" name="">
            <a:extLst xmlns:a="http://schemas.openxmlformats.org/drawingml/2006/main">
              <a:ext uri="{FF2B5EF4-FFF2-40B4-BE49-F238E27FC236}">
                <a16:creationId xmlns:a16="http://schemas.microsoft.com/office/drawing/2014/main" id="{D0BE26DB-0F99-48A9-9498-7EFB1A09224D}"/>
              </a:ext>
            </a:extLst>
          </p:cNvPr>
          <p:cNvSpPr>
            <a:spLocks xmlns:a="http://schemas.openxmlformats.org/drawingml/2006/main" noGrp="1"/>
          </p:cNvSpPr>
          <p:nvPr/>
        </p:nvSpPr>
        <p:spPr>
          <a:xfrm xmlns:a="http://schemas.openxmlformats.org/drawingml/2006/main">
            <a:off x="5391150" y="4743450"/>
            <a:ext cx="2876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8637"/>
          </a:bodyPr>
          <a:lstStyle xmlns:a="http://schemas.openxmlformats.org/drawingml/2006/main"/>
          <a:p xmlns:a="http://schemas.openxmlformats.org/drawingml/2006/main">
            <a:pPr algn="l">
              <a:defRPr sz="1125" b="0">
                <a:solidFill>
                  <a:srgbClr val="334155"/>
                </a:solidFill>
              </a:defRPr>
            </a:pPr>
            <a:r>
              <a:rPr sz="1125" b="0">
                <a:solidFill>
                  <a:srgbClr val="334155"/>
                </a:solidFill>
              </a:rPr>
              <a:t>Measure the foot against the selected NVZ boundary and output legal, fault, or uncertain.</a:t>
            </a:r>
          </a:p>
        </p:txBody>
      </p:sp>
      <p:sp>
        <p:nvSpPr>
          <p:cNvPr id="33" name="">
            <a:extLst xmlns:a="http://schemas.openxmlformats.org/drawingml/2006/main">
              <a:ext uri="{FF2B5EF4-FFF2-40B4-BE49-F238E27FC236}">
                <a16:creationId xmlns:a16="http://schemas.microsoft.com/office/drawing/2014/main" id="{E754E2C2-6283-48CE-B2DB-4A4D4640E903}"/>
              </a:ext>
            </a:extLst>
          </p:cNvPr>
          <p:cNvSpPr>
            <a:spLocks xmlns:a="http://schemas.openxmlformats.org/drawingml/2006/main" noGrp="1"/>
          </p:cNvSpPr>
          <p:nvPr/>
        </p:nvSpPr>
        <p:spPr>
          <a:xfrm xmlns:a="http://schemas.openxmlformats.org/drawingml/2006/main">
            <a:off x="8801100" y="4114800"/>
            <a:ext cx="18478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1430">
            <a:solidFill>
              <a:srgbClr val="CBD5E1"/>
            </a:solidFill>
            <a:prstDash val="solid"/>
          </a:ln>
        </p:spPr>
      </p:sp>
      <p:sp>
        <p:nvSpPr>
          <p:cNvPr id="34" name="">
            <a:extLst xmlns:a="http://schemas.openxmlformats.org/drawingml/2006/main">
              <a:ext uri="{FF2B5EF4-FFF2-40B4-BE49-F238E27FC236}">
                <a16:creationId xmlns:a16="http://schemas.microsoft.com/office/drawing/2014/main" id="{4D96D4DF-8731-45D4-9BCD-2D4A989D838D}"/>
              </a:ext>
            </a:extLst>
          </p:cNvPr>
          <p:cNvSpPr>
            <a:spLocks xmlns:a="http://schemas.openxmlformats.org/drawingml/2006/main" noGrp="1"/>
          </p:cNvSpPr>
          <p:nvPr/>
        </p:nvSpPr>
        <p:spPr>
          <a:xfrm xmlns:a="http://schemas.openxmlformats.org/drawingml/2006/main">
            <a:off x="8972550" y="4286250"/>
            <a:ext cx="361950" cy="361950"/>
          </a:xfrm>
          <a:prstGeom xmlns:a="http://schemas.openxmlformats.org/drawingml/2006/main" prst="ellipse">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830B8579-8E4F-427D-8F12-C7D35B3E4FA6}"/>
              </a:ext>
            </a:extLst>
          </p:cNvPr>
          <p:cNvSpPr>
            <a:spLocks xmlns:a="http://schemas.openxmlformats.org/drawingml/2006/main" noGrp="1"/>
          </p:cNvSpPr>
          <p:nvPr/>
        </p:nvSpPr>
        <p:spPr>
          <a:xfrm xmlns:a="http://schemas.openxmlformats.org/drawingml/2006/main">
            <a:off x="9058275" y="4352925"/>
            <a:ext cx="190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defRPr>
            </a:pPr>
            <a:r>
              <a:rPr sz="1050" b="1">
                <a:solidFill>
                  <a:srgbClr val="FFFFFF"/>
                </a:solidFill>
              </a:rPr>
              <a:t>6</a:t>
            </a:r>
          </a:p>
        </p:txBody>
      </p:sp>
      <p:sp>
        <p:nvSpPr>
          <p:cNvPr id="36" name="">
            <a:extLst xmlns:a="http://schemas.openxmlformats.org/drawingml/2006/main">
              <a:ext uri="{FF2B5EF4-FFF2-40B4-BE49-F238E27FC236}">
                <a16:creationId xmlns:a16="http://schemas.microsoft.com/office/drawing/2014/main" id="{5CD8CB2C-E6BC-4595-BA8D-AF4F0CC38B0F}"/>
              </a:ext>
            </a:extLst>
          </p:cNvPr>
          <p:cNvSpPr>
            <a:spLocks xmlns:a="http://schemas.openxmlformats.org/drawingml/2006/main" noGrp="1"/>
          </p:cNvSpPr>
          <p:nvPr/>
        </p:nvSpPr>
        <p:spPr>
          <a:xfrm xmlns:a="http://schemas.openxmlformats.org/drawingml/2006/main">
            <a:off x="9467850" y="4286250"/>
            <a:ext cx="1028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827"/>
                </a:solidFill>
              </a:defRPr>
            </a:pPr>
            <a:r>
              <a:rPr sz="1275" b="1">
                <a:solidFill>
                  <a:srgbClr val="111827"/>
                </a:solidFill>
              </a:rPr>
              <a:t>Review</a:t>
            </a:r>
          </a:p>
        </p:txBody>
      </p:sp>
      <p:sp>
        <p:nvSpPr>
          <p:cNvPr id="37" name="">
            <a:extLst xmlns:a="http://schemas.openxmlformats.org/drawingml/2006/main">
              <a:ext uri="{FF2B5EF4-FFF2-40B4-BE49-F238E27FC236}">
                <a16:creationId xmlns:a16="http://schemas.microsoft.com/office/drawing/2014/main" id="{DB9A154D-073F-41C3-922E-ED065CF106FE}"/>
              </a:ext>
            </a:extLst>
          </p:cNvPr>
          <p:cNvSpPr>
            <a:spLocks xmlns:a="http://schemas.openxmlformats.org/drawingml/2006/main" noGrp="1"/>
          </p:cNvSpPr>
          <p:nvPr/>
        </p:nvSpPr>
        <p:spPr>
          <a:xfrm xmlns:a="http://schemas.openxmlformats.org/drawingml/2006/main">
            <a:off x="9029700" y="4743450"/>
            <a:ext cx="1390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5723"/>
          </a:bodyPr>
          <a:lstStyle xmlns:a="http://schemas.openxmlformats.org/drawingml/2006/main"/>
          <a:p xmlns:a="http://schemas.openxmlformats.org/drawingml/2006/main">
            <a:pPr algn="l">
              <a:defRPr sz="1125" b="0">
                <a:solidFill>
                  <a:srgbClr val="334155"/>
                </a:solidFill>
              </a:defRPr>
            </a:pPr>
            <a:r>
              <a:rPr sz="1125" b="0">
                <a:solidFill>
                  <a:srgbClr val="334155"/>
                </a:solidFill>
              </a:rPr>
              <a:t>Stop for human correction on hard cases.</a:t>
            </a:r>
          </a:p>
        </p:txBody>
      </p:sp>
      <p:sp>
        <p:nvSpPr>
          <p:cNvPr id="38" name="">
            <a:extLst xmlns:a="http://schemas.openxmlformats.org/drawingml/2006/main">
              <a:ext uri="{FF2B5EF4-FFF2-40B4-BE49-F238E27FC236}">
                <a16:creationId xmlns:a16="http://schemas.microsoft.com/office/drawing/2014/main" id="{EB698B55-DB76-415B-BFF9-DD87A4AF157D}"/>
              </a:ext>
            </a:extLst>
          </p:cNvPr>
          <p:cNvSpPr>
            <a:spLocks xmlns:a="http://schemas.openxmlformats.org/drawingml/2006/main" noGrp="1"/>
          </p:cNvSpPr>
          <p:nvPr/>
        </p:nvSpPr>
        <p:spPr>
          <a:xfrm xmlns:a="http://schemas.openxmlformats.org/drawingml/2006/main">
            <a:off x="609600" y="5562600"/>
            <a:ext cx="105346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1430">
            <a:solidFill>
              <a:srgbClr val="CBD5E1"/>
            </a:solidFill>
            <a:prstDash val="solid"/>
          </a:ln>
        </p:spPr>
      </p:sp>
      <p:sp>
        <p:nvSpPr>
          <p:cNvPr id="39" name="">
            <a:extLst xmlns:a="http://schemas.openxmlformats.org/drawingml/2006/main">
              <a:ext uri="{FF2B5EF4-FFF2-40B4-BE49-F238E27FC236}">
                <a16:creationId xmlns:a16="http://schemas.microsoft.com/office/drawing/2014/main" id="{8300025B-2984-4657-BC4D-BFE24AC7E8F6}"/>
              </a:ext>
            </a:extLst>
          </p:cNvPr>
          <p:cNvSpPr>
            <a:spLocks xmlns:a="http://schemas.openxmlformats.org/drawingml/2006/main" noGrp="1"/>
          </p:cNvSpPr>
          <p:nvPr/>
        </p:nvSpPr>
        <p:spPr>
          <a:xfrm xmlns:a="http://schemas.openxmlformats.org/drawingml/2006/main">
            <a:off x="609600" y="5562600"/>
            <a:ext cx="76200" cy="819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A1AC6D3B-329D-48DF-9B69-24B9AC36C1AA}"/>
              </a:ext>
            </a:extLst>
          </p:cNvPr>
          <p:cNvSpPr>
            <a:spLocks xmlns:a="http://schemas.openxmlformats.org/drawingml/2006/main" noGrp="1"/>
          </p:cNvSpPr>
          <p:nvPr/>
        </p:nvSpPr>
        <p:spPr>
          <a:xfrm xmlns:a="http://schemas.openxmlformats.org/drawingml/2006/main">
            <a:off x="857250" y="5734050"/>
            <a:ext cx="1009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Interpretability</a:t>
            </a:r>
          </a:p>
        </p:txBody>
      </p:sp>
      <p:sp>
        <p:nvSpPr>
          <p:cNvPr id="41" name="">
            <a:extLst xmlns:a="http://schemas.openxmlformats.org/drawingml/2006/main">
              <a:ext uri="{FF2B5EF4-FFF2-40B4-BE49-F238E27FC236}">
                <a16:creationId xmlns:a16="http://schemas.microsoft.com/office/drawing/2014/main" id="{3D73BC5F-B6F9-42A1-8D4A-83B8A53A5C9C}"/>
              </a:ext>
            </a:extLst>
          </p:cNvPr>
          <p:cNvSpPr>
            <a:spLocks xmlns:a="http://schemas.openxmlformats.org/drawingml/2006/main" noGrp="1"/>
          </p:cNvSpPr>
          <p:nvPr/>
        </p:nvSpPr>
        <p:spPr>
          <a:xfrm xmlns:a="http://schemas.openxmlformats.org/drawingml/2006/main">
            <a:off x="857250" y="6076950"/>
            <a:ext cx="10096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8892"/>
          </a:bodyPr>
          <a:lstStyle xmlns:a="http://schemas.openxmlformats.org/drawingml/2006/main"/>
          <a:p xmlns:a="http://schemas.openxmlformats.org/drawingml/2006/main">
            <a:pPr algn="l">
              <a:defRPr sz="1275" b="0">
                <a:solidFill>
                  <a:srgbClr val="111827"/>
                </a:solidFill>
              </a:defRPr>
            </a:pPr>
            <a:r>
              <a:rPr sz="1275" b="0">
                <a:solidFill>
                  <a:srgbClr val="111827"/>
                </a:solidFill>
              </a:rPr>
              <a:t>The final label is not a black box. It can be traced back to court geometry, player side, foot point, and a measurable signed distance.</a:t>
            </a:r>
          </a:p>
        </p:txBody>
      </p:sp>
    </p:spTree>
    <p:extLst>
      <p:ext uri="{BB962C8B-B14F-4D97-AF65-F5344CB8AC3E}">
        <p14:creationId xmlns:p14="http://schemas.microsoft.com/office/powerpoint/2010/main" val="1650443849"/>
      </p:ext>
    </p:extLst>
  </p:cSld>
</p:sld>
</file>

<file path=ppt/slides/slide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A960C4D-F189-49E5-B6B0-85DE310E1BA1}"/>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REGISTRATION FOUNDATION</a:t>
            </a:r>
          </a:p>
        </p:txBody>
      </p:sp>
      <p:sp>
        <p:nvSpPr>
          <p:cNvPr id="3" name="">
            <a:extLst xmlns:a="http://schemas.openxmlformats.org/drawingml/2006/main">
              <a:ext uri="{FF2B5EF4-FFF2-40B4-BE49-F238E27FC236}">
                <a16:creationId xmlns:a16="http://schemas.microsoft.com/office/drawing/2014/main" id="{3D107BEF-3FD7-4213-B6C4-365F4B25AF9A}"/>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04 / 10</a:t>
            </a:r>
          </a:p>
        </p:txBody>
      </p:sp>
      <p:sp>
        <p:nvSpPr>
          <p:cNvPr id="4" name="">
            <a:extLst xmlns:a="http://schemas.openxmlformats.org/drawingml/2006/main">
              <a:ext uri="{FF2B5EF4-FFF2-40B4-BE49-F238E27FC236}">
                <a16:creationId xmlns:a16="http://schemas.microsoft.com/office/drawing/2014/main" id="{85EE1C3D-D85A-467A-A997-98DD329BF771}"/>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2472A47-A171-4187-867C-23C2BEB813BF}"/>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F403686-7675-49A2-9B5D-FB7743420B95}"/>
              </a:ext>
            </a:extLst>
          </p:cNvPr>
          <p:cNvSpPr>
            <a:spLocks xmlns:a="http://schemas.openxmlformats.org/drawingml/2006/main" noGrp="1"/>
          </p:cNvSpPr>
          <p:nvPr/>
        </p:nvSpPr>
        <p:spPr>
          <a:xfrm xmlns:a="http://schemas.openxmlformats.org/drawingml/2006/main">
            <a:off x="609600" y="838200"/>
            <a:ext cx="52387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11827"/>
                </a:solidFill>
              </a:defRPr>
            </a:pPr>
            <a:r>
              <a:rPr sz="2325" b="1">
                <a:solidFill>
                  <a:srgbClr val="111827"/>
                </a:solidFill>
              </a:rPr>
              <a:t>Court registration is the strongest result in the repo</a:t>
            </a:r>
          </a:p>
        </p:txBody>
      </p:sp>
      <p:sp>
        <p:nvSpPr>
          <p:cNvPr id="7" name="">
            <a:extLst xmlns:a="http://schemas.openxmlformats.org/drawingml/2006/main">
              <a:ext uri="{FF2B5EF4-FFF2-40B4-BE49-F238E27FC236}">
                <a16:creationId xmlns:a16="http://schemas.microsoft.com/office/drawing/2014/main" id="{71434620-2980-4C0B-8E2F-D87DFF87AAA7}"/>
              </a:ext>
            </a:extLst>
          </p:cNvPr>
          <p:cNvSpPr>
            <a:spLocks xmlns:a="http://schemas.openxmlformats.org/drawingml/2006/main" noGrp="1"/>
          </p:cNvSpPr>
          <p:nvPr/>
        </p:nvSpPr>
        <p:spPr>
          <a:xfrm xmlns:a="http://schemas.openxmlformats.org/drawingml/2006/main">
            <a:off x="609600" y="1676400"/>
            <a:ext cx="51054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The anchor-point court model plus ORB post-translation tracked the court across the full 34.28 second clip with no fallbacks.</a:t>
            </a:r>
          </a:p>
        </p:txBody>
      </p:sp>
      <p:sp>
        <p:nvSpPr>
          <p:cNvPr id="8" name="">
            <a:extLst xmlns:a="http://schemas.openxmlformats.org/drawingml/2006/main">
              <a:ext uri="{FF2B5EF4-FFF2-40B4-BE49-F238E27FC236}">
                <a16:creationId xmlns:a16="http://schemas.microsoft.com/office/drawing/2014/main" id="{995C2D2C-38BF-495A-BC83-7796770A01FB}"/>
              </a:ext>
            </a:extLst>
          </p:cNvPr>
          <p:cNvSpPr>
            <a:spLocks xmlns:a="http://schemas.openxmlformats.org/drawingml/2006/main" noGrp="1"/>
          </p:cNvSpPr>
          <p:nvPr/>
        </p:nvSpPr>
        <p:spPr>
          <a:xfrm xmlns:a="http://schemas.openxmlformats.org/drawingml/2006/main">
            <a:off x="609600" y="255270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6B61ABB1-8AF4-49F1-A43A-472B8B3F9A6B}"/>
              </a:ext>
            </a:extLst>
          </p:cNvPr>
          <p:cNvSpPr>
            <a:spLocks xmlns:a="http://schemas.openxmlformats.org/drawingml/2006/main" noGrp="1"/>
          </p:cNvSpPr>
          <p:nvPr/>
        </p:nvSpPr>
        <p:spPr>
          <a:xfrm xmlns:a="http://schemas.openxmlformats.org/drawingml/2006/main">
            <a:off x="609600" y="2552700"/>
            <a:ext cx="1619250" cy="57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FE6FA8B-2727-4D9C-B5D0-AD1760F3D349}"/>
              </a:ext>
            </a:extLst>
          </p:cNvPr>
          <p:cNvSpPr>
            <a:spLocks xmlns:a="http://schemas.openxmlformats.org/drawingml/2006/main" noGrp="1"/>
          </p:cNvSpPr>
          <p:nvPr/>
        </p:nvSpPr>
        <p:spPr>
          <a:xfrm xmlns:a="http://schemas.openxmlformats.org/drawingml/2006/main">
            <a:off x="800100" y="27241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0622"/>
          </a:bodyPr>
          <a:lstStyle xmlns:a="http://schemas.openxmlformats.org/drawingml/2006/main"/>
          <a:p xmlns:a="http://schemas.openxmlformats.org/drawingml/2006/main">
            <a:pPr algn="l">
              <a:defRPr sz="2250" b="1">
                <a:solidFill>
                  <a:srgbClr val="111827"/>
                </a:solidFill>
              </a:defRPr>
            </a:pPr>
            <a:r>
              <a:rPr sz="2250" b="1">
                <a:solidFill>
                  <a:srgbClr val="111827"/>
                </a:solidFill>
              </a:rPr>
              <a:t>2055 / 2055</a:t>
            </a:r>
          </a:p>
        </p:txBody>
      </p:sp>
      <p:sp>
        <p:nvSpPr>
          <p:cNvPr id="11" name="">
            <a:extLst xmlns:a="http://schemas.openxmlformats.org/drawingml/2006/main">
              <a:ext uri="{FF2B5EF4-FFF2-40B4-BE49-F238E27FC236}">
                <a16:creationId xmlns:a16="http://schemas.microsoft.com/office/drawing/2014/main" id="{2A6CF291-4D31-49ED-9E30-4E914B6506BE}"/>
              </a:ext>
            </a:extLst>
          </p:cNvPr>
          <p:cNvSpPr>
            <a:spLocks xmlns:a="http://schemas.openxmlformats.org/drawingml/2006/main" noGrp="1"/>
          </p:cNvSpPr>
          <p:nvPr/>
        </p:nvSpPr>
        <p:spPr>
          <a:xfrm xmlns:a="http://schemas.openxmlformats.org/drawingml/2006/main">
            <a:off x="800100" y="32385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successful frames</a:t>
            </a:r>
          </a:p>
        </p:txBody>
      </p:sp>
      <p:sp>
        <p:nvSpPr>
          <p:cNvPr id="12" name="">
            <a:extLst xmlns:a="http://schemas.openxmlformats.org/drawingml/2006/main">
              <a:ext uri="{FF2B5EF4-FFF2-40B4-BE49-F238E27FC236}">
                <a16:creationId xmlns:a16="http://schemas.microsoft.com/office/drawing/2014/main" id="{6B3324FE-6979-4798-9B81-652761C08820}"/>
              </a:ext>
            </a:extLst>
          </p:cNvPr>
          <p:cNvSpPr>
            <a:spLocks xmlns:a="http://schemas.openxmlformats.org/drawingml/2006/main" noGrp="1"/>
          </p:cNvSpPr>
          <p:nvPr/>
        </p:nvSpPr>
        <p:spPr>
          <a:xfrm xmlns:a="http://schemas.openxmlformats.org/drawingml/2006/main">
            <a:off x="8001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0.0% fallback rate</a:t>
            </a:r>
          </a:p>
        </p:txBody>
      </p:sp>
      <p:sp>
        <p:nvSpPr>
          <p:cNvPr id="13" name="">
            <a:extLst xmlns:a="http://schemas.openxmlformats.org/drawingml/2006/main">
              <a:ext uri="{FF2B5EF4-FFF2-40B4-BE49-F238E27FC236}">
                <a16:creationId xmlns:a16="http://schemas.microsoft.com/office/drawing/2014/main" id="{838D3CA0-925F-4D29-BFEE-2222B6DE02F8}"/>
              </a:ext>
            </a:extLst>
          </p:cNvPr>
          <p:cNvSpPr>
            <a:spLocks xmlns:a="http://schemas.openxmlformats.org/drawingml/2006/main" noGrp="1"/>
          </p:cNvSpPr>
          <p:nvPr/>
        </p:nvSpPr>
        <p:spPr>
          <a:xfrm xmlns:a="http://schemas.openxmlformats.org/drawingml/2006/main">
            <a:off x="2362200" y="255270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1430">
            <a:solidFill>
              <a:srgbClr val="CBD5E1"/>
            </a:solidFill>
            <a:prstDash val="solid"/>
          </a:ln>
        </p:spPr>
      </p:sp>
      <p:sp>
        <p:nvSpPr>
          <p:cNvPr id="14" name="">
            <a:extLst xmlns:a="http://schemas.openxmlformats.org/drawingml/2006/main">
              <a:ext uri="{FF2B5EF4-FFF2-40B4-BE49-F238E27FC236}">
                <a16:creationId xmlns:a16="http://schemas.microsoft.com/office/drawing/2014/main" id="{61B04159-15FA-4E3D-9129-93057E3B93E6}"/>
              </a:ext>
            </a:extLst>
          </p:cNvPr>
          <p:cNvSpPr>
            <a:spLocks xmlns:a="http://schemas.openxmlformats.org/drawingml/2006/main" noGrp="1"/>
          </p:cNvSpPr>
          <p:nvPr/>
        </p:nvSpPr>
        <p:spPr>
          <a:xfrm xmlns:a="http://schemas.openxmlformats.org/drawingml/2006/main">
            <a:off x="2362200" y="2552700"/>
            <a:ext cx="16192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CE51C54-F0BA-465D-9AA4-973AE4A8EFA5}"/>
              </a:ext>
            </a:extLst>
          </p:cNvPr>
          <p:cNvSpPr>
            <a:spLocks xmlns:a="http://schemas.openxmlformats.org/drawingml/2006/main" noGrp="1"/>
          </p:cNvSpPr>
          <p:nvPr/>
        </p:nvSpPr>
        <p:spPr>
          <a:xfrm xmlns:a="http://schemas.openxmlformats.org/drawingml/2006/main">
            <a:off x="2552700" y="27241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0</a:t>
            </a:r>
          </a:p>
        </p:txBody>
      </p:sp>
      <p:sp>
        <p:nvSpPr>
          <p:cNvPr id="16" name="">
            <a:extLst xmlns:a="http://schemas.openxmlformats.org/drawingml/2006/main">
              <a:ext uri="{FF2B5EF4-FFF2-40B4-BE49-F238E27FC236}">
                <a16:creationId xmlns:a16="http://schemas.microsoft.com/office/drawing/2014/main" id="{D8450DAA-B15A-4E24-97AF-B09E06E8B91B}"/>
              </a:ext>
            </a:extLst>
          </p:cNvPr>
          <p:cNvSpPr>
            <a:spLocks xmlns:a="http://schemas.openxmlformats.org/drawingml/2006/main" noGrp="1"/>
          </p:cNvSpPr>
          <p:nvPr/>
        </p:nvSpPr>
        <p:spPr>
          <a:xfrm xmlns:a="http://schemas.openxmlformats.org/drawingml/2006/main">
            <a:off x="2552700" y="32385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fallback frames</a:t>
            </a:r>
          </a:p>
        </p:txBody>
      </p:sp>
      <p:sp>
        <p:nvSpPr>
          <p:cNvPr id="17" name="">
            <a:extLst xmlns:a="http://schemas.openxmlformats.org/drawingml/2006/main">
              <a:ext uri="{FF2B5EF4-FFF2-40B4-BE49-F238E27FC236}">
                <a16:creationId xmlns:a16="http://schemas.microsoft.com/office/drawing/2014/main" id="{5B02DC01-7703-4D86-882F-9427BB030EC0}"/>
              </a:ext>
            </a:extLst>
          </p:cNvPr>
          <p:cNvSpPr>
            <a:spLocks xmlns:a="http://schemas.openxmlformats.org/drawingml/2006/main" noGrp="1"/>
          </p:cNvSpPr>
          <p:nvPr/>
        </p:nvSpPr>
        <p:spPr>
          <a:xfrm xmlns:a="http://schemas.openxmlformats.org/drawingml/2006/main">
            <a:off x="25527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reference clip at 1920x1080</a:t>
            </a:r>
          </a:p>
        </p:txBody>
      </p:sp>
      <p:sp>
        <p:nvSpPr>
          <p:cNvPr id="18" name="">
            <a:extLst xmlns:a="http://schemas.openxmlformats.org/drawingml/2006/main">
              <a:ext uri="{FF2B5EF4-FFF2-40B4-BE49-F238E27FC236}">
                <a16:creationId xmlns:a16="http://schemas.microsoft.com/office/drawing/2014/main" id="{7FAF4EA8-D481-432D-AA4C-7DE7DFC8B5EC}"/>
              </a:ext>
            </a:extLst>
          </p:cNvPr>
          <p:cNvSpPr>
            <a:spLocks xmlns:a="http://schemas.openxmlformats.org/drawingml/2006/main" noGrp="1"/>
          </p:cNvSpPr>
          <p:nvPr/>
        </p:nvSpPr>
        <p:spPr>
          <a:xfrm xmlns:a="http://schemas.openxmlformats.org/drawingml/2006/main">
            <a:off x="4114800" y="255270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5FD90815-5686-49D0-AB42-71BE342F6F8E}"/>
              </a:ext>
            </a:extLst>
          </p:cNvPr>
          <p:cNvSpPr>
            <a:spLocks xmlns:a="http://schemas.openxmlformats.org/drawingml/2006/main" noGrp="1"/>
          </p:cNvSpPr>
          <p:nvPr/>
        </p:nvSpPr>
        <p:spPr>
          <a:xfrm xmlns:a="http://schemas.openxmlformats.org/drawingml/2006/main">
            <a:off x="4114800" y="2552700"/>
            <a:ext cx="1619250" cy="57150"/>
          </a:xfrm>
          <a:prstGeom xmlns:a="http://schemas.openxmlformats.org/drawingml/2006/main" prst="rect">
            <a:avLst/>
          </a:prstGeom>
          <a:solidFill xmlns:a="http://schemas.openxmlformats.org/drawingml/2006/main">
            <a:srgbClr val="60A5F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37DE476-E159-4623-9850-CFC2E7EDA589}"/>
              </a:ext>
            </a:extLst>
          </p:cNvPr>
          <p:cNvSpPr>
            <a:spLocks xmlns:a="http://schemas.openxmlformats.org/drawingml/2006/main" noGrp="1"/>
          </p:cNvSpPr>
          <p:nvPr/>
        </p:nvSpPr>
        <p:spPr>
          <a:xfrm xmlns:a="http://schemas.openxmlformats.org/drawingml/2006/main">
            <a:off x="4305300" y="27241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25.03 px</a:t>
            </a:r>
          </a:p>
        </p:txBody>
      </p:sp>
      <p:sp>
        <p:nvSpPr>
          <p:cNvPr id="21" name="">
            <a:extLst xmlns:a="http://schemas.openxmlformats.org/drawingml/2006/main">
              <a:ext uri="{FF2B5EF4-FFF2-40B4-BE49-F238E27FC236}">
                <a16:creationId xmlns:a16="http://schemas.microsoft.com/office/drawing/2014/main" id="{08EC459B-105C-432B-98E9-E6957035ACA1}"/>
              </a:ext>
            </a:extLst>
          </p:cNvPr>
          <p:cNvSpPr>
            <a:spLocks xmlns:a="http://schemas.openxmlformats.org/drawingml/2006/main" noGrp="1"/>
          </p:cNvSpPr>
          <p:nvPr/>
        </p:nvSpPr>
        <p:spPr>
          <a:xfrm xmlns:a="http://schemas.openxmlformats.org/drawingml/2006/main">
            <a:off x="4305300" y="32385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mean translation</a:t>
            </a:r>
          </a:p>
        </p:txBody>
      </p:sp>
      <p:sp>
        <p:nvSpPr>
          <p:cNvPr id="22" name="">
            <a:extLst xmlns:a="http://schemas.openxmlformats.org/drawingml/2006/main">
              <a:ext uri="{FF2B5EF4-FFF2-40B4-BE49-F238E27FC236}">
                <a16:creationId xmlns:a16="http://schemas.microsoft.com/office/drawing/2014/main" id="{C355BF70-40F2-4765-87EC-1EB15767032B}"/>
              </a:ext>
            </a:extLst>
          </p:cNvPr>
          <p:cNvSpPr>
            <a:spLocks xmlns:a="http://schemas.openxmlformats.org/drawingml/2006/main" noGrp="1"/>
          </p:cNvSpPr>
          <p:nvPr/>
        </p:nvSpPr>
        <p:spPr>
          <a:xfrm xmlns:a="http://schemas.openxmlformats.org/drawingml/2006/main">
            <a:off x="43053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sampled validation frames</a:t>
            </a:r>
          </a:p>
        </p:txBody>
      </p:sp>
      <p:sp>
        <p:nvSpPr>
          <p:cNvPr id="23" name="">
            <a:extLst xmlns:a="http://schemas.openxmlformats.org/drawingml/2006/main">
              <a:ext uri="{FF2B5EF4-FFF2-40B4-BE49-F238E27FC236}">
                <a16:creationId xmlns:a16="http://schemas.microsoft.com/office/drawing/2014/main" id="{CCEDB418-4738-45AC-A8B2-3AB8F8F8E187}"/>
              </a:ext>
            </a:extLst>
          </p:cNvPr>
          <p:cNvSpPr>
            <a:spLocks xmlns:a="http://schemas.openxmlformats.org/drawingml/2006/main" noGrp="1"/>
          </p:cNvSpPr>
          <p:nvPr/>
        </p:nvSpPr>
        <p:spPr>
          <a:xfrm xmlns:a="http://schemas.openxmlformats.org/drawingml/2006/main">
            <a:off x="6115050" y="1200150"/>
            <a:ext cx="544830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11430">
            <a:solidFill>
              <a:srgbClr val="CBD5E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a2b6c07ba984956"/>
          <a:stretch xmlns:a="http://schemas.openxmlformats.org/drawingml/2006/main"/>
        </p:blipFill>
        <p:spPr>
          <a:xfrm xmlns:a="http://schemas.openxmlformats.org/drawingml/2006/main">
            <a:off x="6210300" y="1769269"/>
            <a:ext cx="5257800" cy="2957513"/>
          </a:xfrm>
          <a:prstGeom xmlns:a="http://schemas.openxmlformats.org/drawingml/2006/main" prst="roundRect">
            <a:avLst/>
          </a:prstGeom>
        </p:spPr>
      </p:pic>
      <p:sp>
        <p:nvSpPr>
          <p:cNvPr id="25" name="">
            <a:extLst xmlns:a="http://schemas.openxmlformats.org/drawingml/2006/main">
              <a:ext uri="{FF2B5EF4-FFF2-40B4-BE49-F238E27FC236}">
                <a16:creationId xmlns:a16="http://schemas.microsoft.com/office/drawing/2014/main" id="{95464282-7BDB-4507-B54E-663FC2BD5E4F}"/>
              </a:ext>
            </a:extLst>
          </p:cNvPr>
          <p:cNvSpPr>
            <a:spLocks xmlns:a="http://schemas.openxmlformats.org/drawingml/2006/main" noGrp="1"/>
          </p:cNvSpPr>
          <p:nvPr/>
        </p:nvSpPr>
        <p:spPr>
          <a:xfrm xmlns:a="http://schemas.openxmlformats.org/drawingml/2006/main">
            <a:off x="609600" y="3924300"/>
            <a:ext cx="5105400" cy="1943100"/>
          </a:xfrm>
          <a:prstGeom xmlns:a="http://schemas.openxmlformats.org/drawingml/2006/main" prst="roundRect">
            <a:avLst>
              <a:gd name="adj" fmla="val 3922"/>
            </a:avLst>
          </a:prstGeom>
          <a:solidFill xmlns:a="http://schemas.openxmlformats.org/drawingml/2006/main">
            <a:srgbClr val="FFFFFF"/>
          </a:solidFill>
          <a:ln xmlns:a="http://schemas.openxmlformats.org/drawingml/2006/main" w="11430">
            <a:solidFill>
              <a:srgbClr val="CBD5E1"/>
            </a:solidFill>
            <a:prstDash val="solid"/>
          </a:ln>
        </p:spPr>
      </p:sp>
      <p:sp>
        <p:nvSpPr>
          <p:cNvPr id="26" name="">
            <a:extLst xmlns:a="http://schemas.openxmlformats.org/drawingml/2006/main">
              <a:ext uri="{FF2B5EF4-FFF2-40B4-BE49-F238E27FC236}">
                <a16:creationId xmlns:a16="http://schemas.microsoft.com/office/drawing/2014/main" id="{A9832522-84EB-4258-83A3-956153BBC5D2}"/>
              </a:ext>
            </a:extLst>
          </p:cNvPr>
          <p:cNvSpPr>
            <a:spLocks xmlns:a="http://schemas.openxmlformats.org/drawingml/2006/main" noGrp="1"/>
          </p:cNvSpPr>
          <p:nvPr/>
        </p:nvSpPr>
        <p:spPr>
          <a:xfrm xmlns:a="http://schemas.openxmlformats.org/drawingml/2006/main">
            <a:off x="609600" y="3924300"/>
            <a:ext cx="76200" cy="19431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00E5389-03C5-4092-8090-E348CB0BFFE9}"/>
              </a:ext>
            </a:extLst>
          </p:cNvPr>
          <p:cNvSpPr>
            <a:spLocks xmlns:a="http://schemas.openxmlformats.org/drawingml/2006/main" noGrp="1"/>
          </p:cNvSpPr>
          <p:nvPr/>
        </p:nvSpPr>
        <p:spPr>
          <a:xfrm xmlns:a="http://schemas.openxmlformats.org/drawingml/2006/main">
            <a:off x="857250" y="4095750"/>
            <a:ext cx="466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Why this matters</a:t>
            </a:r>
          </a:p>
        </p:txBody>
      </p:sp>
      <p:sp>
        <p:nvSpPr>
          <p:cNvPr id="28" name="">
            <a:extLst xmlns:a="http://schemas.openxmlformats.org/drawingml/2006/main">
              <a:ext uri="{FF2B5EF4-FFF2-40B4-BE49-F238E27FC236}">
                <a16:creationId xmlns:a16="http://schemas.microsoft.com/office/drawing/2014/main" id="{A7508D40-F2C6-4FFA-901B-924CF7BF7B22}"/>
              </a:ext>
            </a:extLst>
          </p:cNvPr>
          <p:cNvSpPr>
            <a:spLocks xmlns:a="http://schemas.openxmlformats.org/drawingml/2006/main" noGrp="1"/>
          </p:cNvSpPr>
          <p:nvPr/>
        </p:nvSpPr>
        <p:spPr>
          <a:xfrm xmlns:a="http://schemas.openxmlformats.org/drawingml/2006/main">
            <a:off x="857250" y="4438650"/>
            <a:ext cx="466725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Everything downstream depends on knowing where the kitchen line actually is in each frame. The demo is only interpretable because the boundary is registered before any fault decision is made.</a:t>
            </a:r>
          </a:p>
        </p:txBody>
      </p:sp>
      <p:sp>
        <p:nvSpPr>
          <p:cNvPr id="29" name="">
            <a:extLst xmlns:a="http://schemas.openxmlformats.org/drawingml/2006/main">
              <a:ext uri="{FF2B5EF4-FFF2-40B4-BE49-F238E27FC236}">
                <a16:creationId xmlns:a16="http://schemas.microsoft.com/office/drawing/2014/main" id="{6C9607A1-764C-4D17-8744-9DA37B4105C5}"/>
              </a:ext>
            </a:extLst>
          </p:cNvPr>
          <p:cNvSpPr>
            <a:spLocks xmlns:a="http://schemas.openxmlformats.org/drawingml/2006/main" noGrp="1"/>
          </p:cNvSpPr>
          <p:nvPr/>
        </p:nvSpPr>
        <p:spPr>
          <a:xfrm xmlns:a="http://schemas.openxmlformats.org/drawingml/2006/main">
            <a:off x="6115050" y="5467350"/>
            <a:ext cx="5391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4748B"/>
                </a:solidFill>
              </a:defRPr>
            </a:pPr>
            <a:r>
              <a:rPr sz="1200" b="0">
                <a:solidFill>
                  <a:srgbClr val="64748B"/>
                </a:solidFill>
              </a:rPr>
              <a:t>The overlay image makes the project easier to explain: once the court is aligned, later foot-fault measurements become a geometric question instead of a guess.</a:t>
            </a:r>
          </a:p>
        </p:txBody>
      </p:sp>
    </p:spTree>
    <p:extLst>
      <p:ext uri="{BB962C8B-B14F-4D97-AF65-F5344CB8AC3E}">
        <p14:creationId xmlns:p14="http://schemas.microsoft.com/office/powerpoint/2010/main" val="73449984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15AE6F1-CFED-46CE-B38B-911A7499B46F}"/>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COMPARISON</a:t>
            </a:r>
          </a:p>
        </p:txBody>
      </p:sp>
      <p:sp>
        <p:nvSpPr>
          <p:cNvPr id="3" name="">
            <a:extLst xmlns:a="http://schemas.openxmlformats.org/drawingml/2006/main">
              <a:ext uri="{FF2B5EF4-FFF2-40B4-BE49-F238E27FC236}">
                <a16:creationId xmlns:a16="http://schemas.microsoft.com/office/drawing/2014/main" id="{E8AA0D5B-7BE0-4808-8304-D6E3138CFCB7}"/>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05 / 10</a:t>
            </a:r>
          </a:p>
        </p:txBody>
      </p:sp>
      <p:sp>
        <p:nvSpPr>
          <p:cNvPr id="4" name="">
            <a:extLst xmlns:a="http://schemas.openxmlformats.org/drawingml/2006/main">
              <a:ext uri="{FF2B5EF4-FFF2-40B4-BE49-F238E27FC236}">
                <a16:creationId xmlns:a16="http://schemas.microsoft.com/office/drawing/2014/main" id="{4DA99492-45B6-4E4B-8770-3C057E729B34}"/>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60EED65-C20D-4FC8-B0E7-68491FA21C32}"/>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BC94086-4D96-4341-BE03-E05D2C9B5E09}"/>
              </a:ext>
            </a:extLst>
          </p:cNvPr>
          <p:cNvSpPr>
            <a:spLocks xmlns:a="http://schemas.openxmlformats.org/drawingml/2006/main" noGrp="1"/>
          </p:cNvSpPr>
          <p:nvPr/>
        </p:nvSpPr>
        <p:spPr>
          <a:xfrm xmlns:a="http://schemas.openxmlformats.org/drawingml/2006/main">
            <a:off x="609600" y="8382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8632"/>
          </a:bodyPr>
          <a:lstStyle xmlns:a="http://schemas.openxmlformats.org/drawingml/2006/main"/>
          <a:p xmlns:a="http://schemas.openxmlformats.org/drawingml/2006/main">
            <a:pPr algn="l">
              <a:defRPr sz="2325" b="1">
                <a:solidFill>
                  <a:srgbClr val="111827"/>
                </a:solidFill>
              </a:defRPr>
            </a:pPr>
            <a:r>
              <a:rPr sz="2325" b="1">
                <a:solidFill>
                  <a:srgbClr val="111827"/>
                </a:solidFill>
              </a:rPr>
              <a:t>The current registration method is more stable than the affine comparison</a:t>
            </a:r>
          </a:p>
        </p:txBody>
      </p:sp>
      <p:sp>
        <p:nvSpPr>
          <p:cNvPr id="7" name="">
            <a:extLst xmlns:a="http://schemas.openxmlformats.org/drawingml/2006/main">
              <a:ext uri="{FF2B5EF4-FFF2-40B4-BE49-F238E27FC236}">
                <a16:creationId xmlns:a16="http://schemas.microsoft.com/office/drawing/2014/main" id="{478A7BEB-FCA2-4AAB-818A-5FFA0B1377D2}"/>
              </a:ext>
            </a:extLst>
          </p:cNvPr>
          <p:cNvSpPr>
            <a:spLocks xmlns:a="http://schemas.openxmlformats.org/drawingml/2006/main" noGrp="1"/>
          </p:cNvSpPr>
          <p:nvPr/>
        </p:nvSpPr>
        <p:spPr>
          <a:xfrm xmlns:a="http://schemas.openxmlformats.org/drawingml/2006/main">
            <a:off x="609600" y="1885950"/>
            <a:ext cx="514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On the same clip, the fixed affine configuration dropped from 2055 successful frames to 2036 and needed 19 fallbacks.</a:t>
            </a:r>
          </a:p>
        </p:txBody>
      </p:sp>
      <p:sp>
        <p:nvSpPr>
          <p:cNvPr id="8" name="">
            <a:extLst xmlns:a="http://schemas.openxmlformats.org/drawingml/2006/main">
              <a:ext uri="{FF2B5EF4-FFF2-40B4-BE49-F238E27FC236}">
                <a16:creationId xmlns:a16="http://schemas.microsoft.com/office/drawing/2014/main" id="{48824435-096A-46B1-B65A-4CDFB2C9A4DF}"/>
              </a:ext>
            </a:extLst>
          </p:cNvPr>
          <p:cNvSpPr>
            <a:spLocks xmlns:a="http://schemas.openxmlformats.org/drawingml/2006/main" noGrp="1"/>
          </p:cNvSpPr>
          <p:nvPr/>
        </p:nvSpPr>
        <p:spPr>
          <a:xfrm xmlns:a="http://schemas.openxmlformats.org/drawingml/2006/main">
            <a:off x="609600" y="259080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0DA79886-C7C3-406D-9EF1-20501BAE1C2E}"/>
              </a:ext>
            </a:extLst>
          </p:cNvPr>
          <p:cNvSpPr>
            <a:spLocks xmlns:a="http://schemas.openxmlformats.org/drawingml/2006/main" noGrp="1"/>
          </p:cNvSpPr>
          <p:nvPr/>
        </p:nvSpPr>
        <p:spPr>
          <a:xfrm xmlns:a="http://schemas.openxmlformats.org/drawingml/2006/main">
            <a:off x="609600" y="2590800"/>
            <a:ext cx="1619250" cy="57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99FEE3E-0A42-48A1-8AC8-1CD5D099DC5D}"/>
              </a:ext>
            </a:extLst>
          </p:cNvPr>
          <p:cNvSpPr>
            <a:spLocks xmlns:a="http://schemas.openxmlformats.org/drawingml/2006/main" noGrp="1"/>
          </p:cNvSpPr>
          <p:nvPr/>
        </p:nvSpPr>
        <p:spPr>
          <a:xfrm xmlns:a="http://schemas.openxmlformats.org/drawingml/2006/main">
            <a:off x="800100" y="27622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2055</a:t>
            </a:r>
          </a:p>
        </p:txBody>
      </p:sp>
      <p:sp>
        <p:nvSpPr>
          <p:cNvPr id="11" name="">
            <a:extLst xmlns:a="http://schemas.openxmlformats.org/drawingml/2006/main">
              <a:ext uri="{FF2B5EF4-FFF2-40B4-BE49-F238E27FC236}">
                <a16:creationId xmlns:a16="http://schemas.microsoft.com/office/drawing/2014/main" id="{7E7101B9-14E4-447B-B7A3-F90977F7B5CF}"/>
              </a:ext>
            </a:extLst>
          </p:cNvPr>
          <p:cNvSpPr>
            <a:spLocks xmlns:a="http://schemas.openxmlformats.org/drawingml/2006/main" noGrp="1"/>
          </p:cNvSpPr>
          <p:nvPr/>
        </p:nvSpPr>
        <p:spPr>
          <a:xfrm xmlns:a="http://schemas.openxmlformats.org/drawingml/2006/main">
            <a:off x="800100" y="32766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post-translation</a:t>
            </a:r>
          </a:p>
        </p:txBody>
      </p:sp>
      <p:sp>
        <p:nvSpPr>
          <p:cNvPr id="12" name="">
            <a:extLst xmlns:a="http://schemas.openxmlformats.org/drawingml/2006/main">
              <a:ext uri="{FF2B5EF4-FFF2-40B4-BE49-F238E27FC236}">
                <a16:creationId xmlns:a16="http://schemas.microsoft.com/office/drawing/2014/main" id="{90131DE3-960C-4B83-BCEE-B4D53DCBA64B}"/>
              </a:ext>
            </a:extLst>
          </p:cNvPr>
          <p:cNvSpPr>
            <a:spLocks xmlns:a="http://schemas.openxmlformats.org/drawingml/2006/main" noGrp="1"/>
          </p:cNvSpPr>
          <p:nvPr/>
        </p:nvSpPr>
        <p:spPr>
          <a:xfrm xmlns:a="http://schemas.openxmlformats.org/drawingml/2006/main">
            <a:off x="800100" y="33718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successful frames</a:t>
            </a:r>
          </a:p>
        </p:txBody>
      </p:sp>
      <p:sp>
        <p:nvSpPr>
          <p:cNvPr id="13" name="">
            <a:extLst xmlns:a="http://schemas.openxmlformats.org/drawingml/2006/main">
              <a:ext uri="{FF2B5EF4-FFF2-40B4-BE49-F238E27FC236}">
                <a16:creationId xmlns:a16="http://schemas.microsoft.com/office/drawing/2014/main" id="{B7020F61-3E6F-40CB-9B5E-4AFB5A1813AF}"/>
              </a:ext>
            </a:extLst>
          </p:cNvPr>
          <p:cNvSpPr>
            <a:spLocks xmlns:a="http://schemas.openxmlformats.org/drawingml/2006/main" noGrp="1"/>
          </p:cNvSpPr>
          <p:nvPr/>
        </p:nvSpPr>
        <p:spPr>
          <a:xfrm xmlns:a="http://schemas.openxmlformats.org/drawingml/2006/main">
            <a:off x="2362200" y="259080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4" name="">
            <a:extLst xmlns:a="http://schemas.openxmlformats.org/drawingml/2006/main">
              <a:ext uri="{FF2B5EF4-FFF2-40B4-BE49-F238E27FC236}">
                <a16:creationId xmlns:a16="http://schemas.microsoft.com/office/drawing/2014/main" id="{832E1085-B955-4529-8689-FA7BFF07714E}"/>
              </a:ext>
            </a:extLst>
          </p:cNvPr>
          <p:cNvSpPr>
            <a:spLocks xmlns:a="http://schemas.openxmlformats.org/drawingml/2006/main" noGrp="1"/>
          </p:cNvSpPr>
          <p:nvPr/>
        </p:nvSpPr>
        <p:spPr>
          <a:xfrm xmlns:a="http://schemas.openxmlformats.org/drawingml/2006/main">
            <a:off x="2362200" y="2590800"/>
            <a:ext cx="1619250" cy="571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4D3E2D1-58BF-4365-9BDA-74799C4274F8}"/>
              </a:ext>
            </a:extLst>
          </p:cNvPr>
          <p:cNvSpPr>
            <a:spLocks xmlns:a="http://schemas.openxmlformats.org/drawingml/2006/main" noGrp="1"/>
          </p:cNvSpPr>
          <p:nvPr/>
        </p:nvSpPr>
        <p:spPr>
          <a:xfrm xmlns:a="http://schemas.openxmlformats.org/drawingml/2006/main">
            <a:off x="2552700" y="27622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2036</a:t>
            </a:r>
          </a:p>
        </p:txBody>
      </p:sp>
      <p:sp>
        <p:nvSpPr>
          <p:cNvPr id="16" name="">
            <a:extLst xmlns:a="http://schemas.openxmlformats.org/drawingml/2006/main">
              <a:ext uri="{FF2B5EF4-FFF2-40B4-BE49-F238E27FC236}">
                <a16:creationId xmlns:a16="http://schemas.microsoft.com/office/drawing/2014/main" id="{9FAEA250-968C-467A-9055-8B634AA66B1A}"/>
              </a:ext>
            </a:extLst>
          </p:cNvPr>
          <p:cNvSpPr>
            <a:spLocks xmlns:a="http://schemas.openxmlformats.org/drawingml/2006/main" noGrp="1"/>
          </p:cNvSpPr>
          <p:nvPr/>
        </p:nvSpPr>
        <p:spPr>
          <a:xfrm xmlns:a="http://schemas.openxmlformats.org/drawingml/2006/main">
            <a:off x="2552700" y="32766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affine fixed</a:t>
            </a:r>
          </a:p>
        </p:txBody>
      </p:sp>
      <p:sp>
        <p:nvSpPr>
          <p:cNvPr id="17" name="">
            <a:extLst xmlns:a="http://schemas.openxmlformats.org/drawingml/2006/main">
              <a:ext uri="{FF2B5EF4-FFF2-40B4-BE49-F238E27FC236}">
                <a16:creationId xmlns:a16="http://schemas.microsoft.com/office/drawing/2014/main" id="{657C8C06-96DA-4CE2-95B4-44FD2DA42A11}"/>
              </a:ext>
            </a:extLst>
          </p:cNvPr>
          <p:cNvSpPr>
            <a:spLocks xmlns:a="http://schemas.openxmlformats.org/drawingml/2006/main" noGrp="1"/>
          </p:cNvSpPr>
          <p:nvPr/>
        </p:nvSpPr>
        <p:spPr>
          <a:xfrm xmlns:a="http://schemas.openxmlformats.org/drawingml/2006/main">
            <a:off x="2552700" y="33718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successful frames</a:t>
            </a:r>
          </a:p>
        </p:txBody>
      </p:sp>
      <p:sp>
        <p:nvSpPr>
          <p:cNvPr id="18" name="">
            <a:extLst xmlns:a="http://schemas.openxmlformats.org/drawingml/2006/main">
              <a:ext uri="{FF2B5EF4-FFF2-40B4-BE49-F238E27FC236}">
                <a16:creationId xmlns:a16="http://schemas.microsoft.com/office/drawing/2014/main" id="{0E0861F4-9548-456B-9604-41C64EE22787}"/>
              </a:ext>
            </a:extLst>
          </p:cNvPr>
          <p:cNvSpPr>
            <a:spLocks xmlns:a="http://schemas.openxmlformats.org/drawingml/2006/main" noGrp="1"/>
          </p:cNvSpPr>
          <p:nvPr/>
        </p:nvSpPr>
        <p:spPr>
          <a:xfrm xmlns:a="http://schemas.openxmlformats.org/drawingml/2006/main">
            <a:off x="4114800" y="259080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495E6835-23A9-4903-A69B-4930C1676792}"/>
              </a:ext>
            </a:extLst>
          </p:cNvPr>
          <p:cNvSpPr>
            <a:spLocks xmlns:a="http://schemas.openxmlformats.org/drawingml/2006/main" noGrp="1"/>
          </p:cNvSpPr>
          <p:nvPr/>
        </p:nvSpPr>
        <p:spPr>
          <a:xfrm xmlns:a="http://schemas.openxmlformats.org/drawingml/2006/main">
            <a:off x="4114800" y="2590800"/>
            <a:ext cx="16192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3B38676-2EB0-440C-AD99-F3F19AF47130}"/>
              </a:ext>
            </a:extLst>
          </p:cNvPr>
          <p:cNvSpPr>
            <a:spLocks xmlns:a="http://schemas.openxmlformats.org/drawingml/2006/main" noGrp="1"/>
          </p:cNvSpPr>
          <p:nvPr/>
        </p:nvSpPr>
        <p:spPr>
          <a:xfrm xmlns:a="http://schemas.openxmlformats.org/drawingml/2006/main">
            <a:off x="4305300" y="27622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19</a:t>
            </a:r>
          </a:p>
        </p:txBody>
      </p:sp>
      <p:sp>
        <p:nvSpPr>
          <p:cNvPr id="21" name="">
            <a:extLst xmlns:a="http://schemas.openxmlformats.org/drawingml/2006/main">
              <a:ext uri="{FF2B5EF4-FFF2-40B4-BE49-F238E27FC236}">
                <a16:creationId xmlns:a16="http://schemas.microsoft.com/office/drawing/2014/main" id="{647267A5-3009-44B7-92F1-AE4155D16BDE}"/>
              </a:ext>
            </a:extLst>
          </p:cNvPr>
          <p:cNvSpPr>
            <a:spLocks xmlns:a="http://schemas.openxmlformats.org/drawingml/2006/main" noGrp="1"/>
          </p:cNvSpPr>
          <p:nvPr/>
        </p:nvSpPr>
        <p:spPr>
          <a:xfrm xmlns:a="http://schemas.openxmlformats.org/drawingml/2006/main">
            <a:off x="4305300" y="32766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affine fallbacks</a:t>
            </a:r>
          </a:p>
        </p:txBody>
      </p:sp>
      <p:sp>
        <p:nvSpPr>
          <p:cNvPr id="22" name="">
            <a:extLst xmlns:a="http://schemas.openxmlformats.org/drawingml/2006/main">
              <a:ext uri="{FF2B5EF4-FFF2-40B4-BE49-F238E27FC236}">
                <a16:creationId xmlns:a16="http://schemas.microsoft.com/office/drawing/2014/main" id="{894E0F78-0C61-4F38-971B-C2C440C5B9F1}"/>
              </a:ext>
            </a:extLst>
          </p:cNvPr>
          <p:cNvSpPr>
            <a:spLocks xmlns:a="http://schemas.openxmlformats.org/drawingml/2006/main" noGrp="1"/>
          </p:cNvSpPr>
          <p:nvPr/>
        </p:nvSpPr>
        <p:spPr>
          <a:xfrm xmlns:a="http://schemas.openxmlformats.org/drawingml/2006/main">
            <a:off x="4305300" y="33718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same clip and settings family</a:t>
            </a:r>
          </a:p>
        </p:txBody>
      </p:sp>
      <p:sp>
        <p:nvSpPr>
          <p:cNvPr id="23" name="">
            <a:extLst xmlns:a="http://schemas.openxmlformats.org/drawingml/2006/main">
              <a:ext uri="{FF2B5EF4-FFF2-40B4-BE49-F238E27FC236}">
                <a16:creationId xmlns:a16="http://schemas.microsoft.com/office/drawing/2014/main" id="{737188EB-1F7D-4E3D-A1D6-919A57BB409D}"/>
              </a:ext>
            </a:extLst>
          </p:cNvPr>
          <p:cNvSpPr>
            <a:spLocks xmlns:a="http://schemas.openxmlformats.org/drawingml/2006/main" noGrp="1"/>
          </p:cNvSpPr>
          <p:nvPr/>
        </p:nvSpPr>
        <p:spPr>
          <a:xfrm xmlns:a="http://schemas.openxmlformats.org/drawingml/2006/main">
            <a:off x="609600" y="4038600"/>
            <a:ext cx="51054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11430">
            <a:solidFill>
              <a:srgbClr val="CBD5E1"/>
            </a:solidFill>
            <a:prstDash val="solid"/>
          </a:ln>
        </p:spPr>
      </p:sp>
      <p:sp>
        <p:nvSpPr>
          <p:cNvPr id="24" name="">
            <a:extLst xmlns:a="http://schemas.openxmlformats.org/drawingml/2006/main">
              <a:ext uri="{FF2B5EF4-FFF2-40B4-BE49-F238E27FC236}">
                <a16:creationId xmlns:a16="http://schemas.microsoft.com/office/drawing/2014/main" id="{2A917FEA-9636-42BA-8866-114D47D13DFC}"/>
              </a:ext>
            </a:extLst>
          </p:cNvPr>
          <p:cNvSpPr>
            <a:spLocks xmlns:a="http://schemas.openxmlformats.org/drawingml/2006/main" noGrp="1"/>
          </p:cNvSpPr>
          <p:nvPr/>
        </p:nvSpPr>
        <p:spPr>
          <a:xfrm xmlns:a="http://schemas.openxmlformats.org/drawingml/2006/main">
            <a:off x="609600" y="4038600"/>
            <a:ext cx="76200" cy="16764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3B32107-A6C0-4AC6-BC72-A36E8A10EF63}"/>
              </a:ext>
            </a:extLst>
          </p:cNvPr>
          <p:cNvSpPr>
            <a:spLocks xmlns:a="http://schemas.openxmlformats.org/drawingml/2006/main" noGrp="1"/>
          </p:cNvSpPr>
          <p:nvPr/>
        </p:nvSpPr>
        <p:spPr>
          <a:xfrm xmlns:a="http://schemas.openxmlformats.org/drawingml/2006/main">
            <a:off x="857250" y="4210050"/>
            <a:ext cx="466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Interpretation</a:t>
            </a:r>
          </a:p>
        </p:txBody>
      </p:sp>
      <p:sp>
        <p:nvSpPr>
          <p:cNvPr id="26" name="">
            <a:extLst xmlns:a="http://schemas.openxmlformats.org/drawingml/2006/main">
              <a:ext uri="{FF2B5EF4-FFF2-40B4-BE49-F238E27FC236}">
                <a16:creationId xmlns:a16="http://schemas.microsoft.com/office/drawing/2014/main" id="{70765521-D87D-4667-BA0B-E47FA2162C79}"/>
              </a:ext>
            </a:extLst>
          </p:cNvPr>
          <p:cNvSpPr>
            <a:spLocks xmlns:a="http://schemas.openxmlformats.org/drawingml/2006/main" noGrp="1"/>
          </p:cNvSpPr>
          <p:nvPr/>
        </p:nvSpPr>
        <p:spPr>
          <a:xfrm xmlns:a="http://schemas.openxmlformats.org/drawingml/2006/main">
            <a:off x="857250" y="4552950"/>
            <a:ext cx="466725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The registration stage is already giving a meaningful technical result: the current transform choice matters, and the more stable option is visible both qualitatively and in the fallback count.</a:t>
            </a:r>
          </a:p>
        </p:txBody>
      </p:sp>
      <p:sp>
        <p:nvSpPr>
          <p:cNvPr id="27" name="">
            <a:extLst xmlns:a="http://schemas.openxmlformats.org/drawingml/2006/main">
              <a:ext uri="{FF2B5EF4-FFF2-40B4-BE49-F238E27FC236}">
                <a16:creationId xmlns:a16="http://schemas.microsoft.com/office/drawing/2014/main" id="{3BEFE1E0-A319-44FA-8365-13EFA828CE41}"/>
              </a:ext>
            </a:extLst>
          </p:cNvPr>
          <p:cNvSpPr>
            <a:spLocks xmlns:a="http://schemas.openxmlformats.org/drawingml/2006/main" noGrp="1"/>
          </p:cNvSpPr>
          <p:nvPr/>
        </p:nvSpPr>
        <p:spPr>
          <a:xfrm xmlns:a="http://schemas.openxmlformats.org/drawingml/2006/main">
            <a:off x="6115050" y="1219200"/>
            <a:ext cx="544830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11430">
            <a:solidFill>
              <a:srgbClr val="CBD5E1"/>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a6afcc1ad314749"/>
          <a:stretch xmlns:a="http://schemas.openxmlformats.org/drawingml/2006/main"/>
        </p:blipFill>
        <p:spPr>
          <a:xfrm xmlns:a="http://schemas.openxmlformats.org/drawingml/2006/main">
            <a:off x="6210300" y="2527697"/>
            <a:ext cx="5257800" cy="1478756"/>
          </a:xfrm>
          <a:prstGeom xmlns:a="http://schemas.openxmlformats.org/drawingml/2006/main" prst="roundRect">
            <a:avLst/>
          </a:prstGeom>
        </p:spPr>
      </p:pic>
      <p:sp>
        <p:nvSpPr>
          <p:cNvPr id="29" name="">
            <a:extLst xmlns:a="http://schemas.openxmlformats.org/drawingml/2006/main">
              <a:ext uri="{FF2B5EF4-FFF2-40B4-BE49-F238E27FC236}">
                <a16:creationId xmlns:a16="http://schemas.microsoft.com/office/drawing/2014/main" id="{8CB90D65-BCD1-4574-B143-B6E9C693B726}"/>
              </a:ext>
            </a:extLst>
          </p:cNvPr>
          <p:cNvSpPr>
            <a:spLocks xmlns:a="http://schemas.openxmlformats.org/drawingml/2006/main" noGrp="1"/>
          </p:cNvSpPr>
          <p:nvPr/>
        </p:nvSpPr>
        <p:spPr>
          <a:xfrm xmlns:a="http://schemas.openxmlformats.org/drawingml/2006/main">
            <a:off x="6134100" y="5486400"/>
            <a:ext cx="53911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4748B"/>
                </a:solidFill>
              </a:defRPr>
            </a:pPr>
            <a:r>
              <a:rPr sz="1200" b="0">
                <a:solidFill>
                  <a:srgbClr val="64748B"/>
                </a:solidFill>
              </a:rPr>
              <a:t>Left: post-translation. Right: affine. Even without going deep into the math, the qualitative comparison supports the same story as the frame-count metrics.</a:t>
            </a:r>
          </a:p>
        </p:txBody>
      </p:sp>
    </p:spTree>
    <p:extLst>
      <p:ext uri="{BB962C8B-B14F-4D97-AF65-F5344CB8AC3E}">
        <p14:creationId xmlns:p14="http://schemas.microsoft.com/office/powerpoint/2010/main" val="656212444"/>
      </p:ext>
    </p:extLst>
  </p:cSld>
</p:sld>
</file>

<file path=ppt/slides/slide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00CC58F-3069-46CC-A2C3-1DCA504AEE17}"/>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DEMO SNAPSHOT</a:t>
            </a:r>
          </a:p>
        </p:txBody>
      </p:sp>
      <p:sp>
        <p:nvSpPr>
          <p:cNvPr id="3" name="">
            <a:extLst xmlns:a="http://schemas.openxmlformats.org/drawingml/2006/main">
              <a:ext uri="{FF2B5EF4-FFF2-40B4-BE49-F238E27FC236}">
                <a16:creationId xmlns:a16="http://schemas.microsoft.com/office/drawing/2014/main" id="{72352D8F-6C02-4CF2-9D5B-5585AD9886DE}"/>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06 / 10</a:t>
            </a:r>
          </a:p>
        </p:txBody>
      </p:sp>
      <p:sp>
        <p:nvSpPr>
          <p:cNvPr id="4" name="">
            <a:extLst xmlns:a="http://schemas.openxmlformats.org/drawingml/2006/main">
              <a:ext uri="{FF2B5EF4-FFF2-40B4-BE49-F238E27FC236}">
                <a16:creationId xmlns:a16="http://schemas.microsoft.com/office/drawing/2014/main" id="{7552CE98-A06A-4461-AAE5-B8F9BA6E4CAF}"/>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F4D316C-FFE8-49DD-A3C4-E74307290F5A}"/>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676CCBB-6C94-487B-93EB-C3ABB7452798}"/>
              </a:ext>
            </a:extLst>
          </p:cNvPr>
          <p:cNvSpPr>
            <a:spLocks xmlns:a="http://schemas.openxmlformats.org/drawingml/2006/main" noGrp="1"/>
          </p:cNvSpPr>
          <p:nvPr/>
        </p:nvSpPr>
        <p:spPr>
          <a:xfrm xmlns:a="http://schemas.openxmlformats.org/drawingml/2006/main">
            <a:off x="609600" y="838200"/>
            <a:ext cx="4953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11827"/>
                </a:solidFill>
              </a:defRPr>
            </a:pPr>
            <a:r>
              <a:rPr sz="2325" b="1">
                <a:solidFill>
                  <a:srgbClr val="111827"/>
                </a:solidFill>
              </a:rPr>
              <a:t>Current end-to-end demo status</a:t>
            </a:r>
          </a:p>
        </p:txBody>
      </p:sp>
      <p:sp>
        <p:nvSpPr>
          <p:cNvPr id="7" name="">
            <a:extLst xmlns:a="http://schemas.openxmlformats.org/drawingml/2006/main">
              <a:ext uri="{FF2B5EF4-FFF2-40B4-BE49-F238E27FC236}">
                <a16:creationId xmlns:a16="http://schemas.microsoft.com/office/drawing/2014/main" id="{FE777BF3-67FC-496A-A4C5-680CDCCA9004}"/>
              </a:ext>
            </a:extLst>
          </p:cNvPr>
          <p:cNvSpPr>
            <a:spLocks xmlns:a="http://schemas.openxmlformats.org/drawingml/2006/main" noGrp="1"/>
          </p:cNvSpPr>
          <p:nvPr/>
        </p:nvSpPr>
        <p:spPr>
          <a:xfrm xmlns:a="http://schemas.openxmlformats.org/drawingml/2006/main">
            <a:off x="609600" y="1619250"/>
            <a:ext cx="600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The demo pipeline is wired and producing reviewable outputs, but it should still be presented as a human-in-the-loop research workflow rather than a finished automatic referee.</a:t>
            </a:r>
          </a:p>
        </p:txBody>
      </p:sp>
      <p:sp>
        <p:nvSpPr>
          <p:cNvPr id="8" name="">
            <a:extLst xmlns:a="http://schemas.openxmlformats.org/drawingml/2006/main">
              <a:ext uri="{FF2B5EF4-FFF2-40B4-BE49-F238E27FC236}">
                <a16:creationId xmlns:a16="http://schemas.microsoft.com/office/drawing/2014/main" id="{B0B991D8-50D2-4806-B8D9-B75366D56BE2}"/>
              </a:ext>
            </a:extLst>
          </p:cNvPr>
          <p:cNvSpPr>
            <a:spLocks xmlns:a="http://schemas.openxmlformats.org/drawingml/2006/main" noGrp="1"/>
          </p:cNvSpPr>
          <p:nvPr/>
        </p:nvSpPr>
        <p:spPr>
          <a:xfrm xmlns:a="http://schemas.openxmlformats.org/drawingml/2006/main">
            <a:off x="609600" y="257175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2A3B6986-9D49-42D0-BDEF-C09D173A3960}"/>
              </a:ext>
            </a:extLst>
          </p:cNvPr>
          <p:cNvSpPr>
            <a:spLocks xmlns:a="http://schemas.openxmlformats.org/drawingml/2006/main" noGrp="1"/>
          </p:cNvSpPr>
          <p:nvPr/>
        </p:nvSpPr>
        <p:spPr>
          <a:xfrm xmlns:a="http://schemas.openxmlformats.org/drawingml/2006/main">
            <a:off x="609600" y="2571750"/>
            <a:ext cx="1619250" cy="57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2DC05DF-0C54-4B75-8016-BC0B568752B2}"/>
              </a:ext>
            </a:extLst>
          </p:cNvPr>
          <p:cNvSpPr>
            <a:spLocks xmlns:a="http://schemas.openxmlformats.org/drawingml/2006/main" noGrp="1"/>
          </p:cNvSpPr>
          <p:nvPr/>
        </p:nvSpPr>
        <p:spPr>
          <a:xfrm xmlns:a="http://schemas.openxmlformats.org/drawingml/2006/main">
            <a:off x="800100" y="274320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3</a:t>
            </a:r>
          </a:p>
        </p:txBody>
      </p:sp>
      <p:sp>
        <p:nvSpPr>
          <p:cNvPr id="11" name="">
            <a:extLst xmlns:a="http://schemas.openxmlformats.org/drawingml/2006/main">
              <a:ext uri="{FF2B5EF4-FFF2-40B4-BE49-F238E27FC236}">
                <a16:creationId xmlns:a16="http://schemas.microsoft.com/office/drawing/2014/main" id="{B821F14A-E592-4630-B923-2A3F83553EBF}"/>
              </a:ext>
            </a:extLst>
          </p:cNvPr>
          <p:cNvSpPr>
            <a:spLocks xmlns:a="http://schemas.openxmlformats.org/drawingml/2006/main" noGrp="1"/>
          </p:cNvSpPr>
          <p:nvPr/>
        </p:nvSpPr>
        <p:spPr>
          <a:xfrm xmlns:a="http://schemas.openxmlformats.org/drawingml/2006/main">
            <a:off x="800100" y="325755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final events</a:t>
            </a:r>
          </a:p>
        </p:txBody>
      </p:sp>
      <p:sp>
        <p:nvSpPr>
          <p:cNvPr id="12" name="">
            <a:extLst xmlns:a="http://schemas.openxmlformats.org/drawingml/2006/main">
              <a:ext uri="{FF2B5EF4-FFF2-40B4-BE49-F238E27FC236}">
                <a16:creationId xmlns:a16="http://schemas.microsoft.com/office/drawing/2014/main" id="{2360BEC0-9A04-41AA-AFC6-151554AFBE5A}"/>
              </a:ext>
            </a:extLst>
          </p:cNvPr>
          <p:cNvSpPr>
            <a:spLocks xmlns:a="http://schemas.openxmlformats.org/drawingml/2006/main" noGrp="1"/>
          </p:cNvSpPr>
          <p:nvPr/>
        </p:nvSpPr>
        <p:spPr>
          <a:xfrm xmlns:a="http://schemas.openxmlformats.org/drawingml/2006/main">
            <a:off x="8001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demo snapshot</a:t>
            </a:r>
          </a:p>
        </p:txBody>
      </p:sp>
      <p:sp>
        <p:nvSpPr>
          <p:cNvPr id="13" name="">
            <a:extLst xmlns:a="http://schemas.openxmlformats.org/drawingml/2006/main">
              <a:ext uri="{FF2B5EF4-FFF2-40B4-BE49-F238E27FC236}">
                <a16:creationId xmlns:a16="http://schemas.microsoft.com/office/drawing/2014/main" id="{FB126687-1AE0-46CE-A652-269D18B3388F}"/>
              </a:ext>
            </a:extLst>
          </p:cNvPr>
          <p:cNvSpPr>
            <a:spLocks xmlns:a="http://schemas.openxmlformats.org/drawingml/2006/main" noGrp="1"/>
          </p:cNvSpPr>
          <p:nvPr/>
        </p:nvSpPr>
        <p:spPr>
          <a:xfrm xmlns:a="http://schemas.openxmlformats.org/drawingml/2006/main">
            <a:off x="2362200" y="257175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4" name="">
            <a:extLst xmlns:a="http://schemas.openxmlformats.org/drawingml/2006/main">
              <a:ext uri="{FF2B5EF4-FFF2-40B4-BE49-F238E27FC236}">
                <a16:creationId xmlns:a16="http://schemas.microsoft.com/office/drawing/2014/main" id="{34BAD9B5-9691-472D-A093-A7E82FA09FF1}"/>
              </a:ext>
            </a:extLst>
          </p:cNvPr>
          <p:cNvSpPr>
            <a:spLocks xmlns:a="http://schemas.openxmlformats.org/drawingml/2006/main" noGrp="1"/>
          </p:cNvSpPr>
          <p:nvPr/>
        </p:nvSpPr>
        <p:spPr>
          <a:xfrm xmlns:a="http://schemas.openxmlformats.org/drawingml/2006/main">
            <a:off x="2362200" y="2571750"/>
            <a:ext cx="16192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F9BDF43-B593-4BCE-BDFB-828C60C80189}"/>
              </a:ext>
            </a:extLst>
          </p:cNvPr>
          <p:cNvSpPr>
            <a:spLocks xmlns:a="http://schemas.openxmlformats.org/drawingml/2006/main" noGrp="1"/>
          </p:cNvSpPr>
          <p:nvPr/>
        </p:nvSpPr>
        <p:spPr>
          <a:xfrm xmlns:a="http://schemas.openxmlformats.org/drawingml/2006/main">
            <a:off x="2552700" y="274320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1</a:t>
            </a:r>
          </a:p>
        </p:txBody>
      </p:sp>
      <p:sp>
        <p:nvSpPr>
          <p:cNvPr id="16" name="">
            <a:extLst xmlns:a="http://schemas.openxmlformats.org/drawingml/2006/main">
              <a:ext uri="{FF2B5EF4-FFF2-40B4-BE49-F238E27FC236}">
                <a16:creationId xmlns:a16="http://schemas.microsoft.com/office/drawing/2014/main" id="{CF7CF499-2B95-48EA-B255-741F39F743A0}"/>
              </a:ext>
            </a:extLst>
          </p:cNvPr>
          <p:cNvSpPr>
            <a:spLocks xmlns:a="http://schemas.openxmlformats.org/drawingml/2006/main" noGrp="1"/>
          </p:cNvSpPr>
          <p:nvPr/>
        </p:nvSpPr>
        <p:spPr>
          <a:xfrm xmlns:a="http://schemas.openxmlformats.org/drawingml/2006/main">
            <a:off x="2552700" y="325755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fault</a:t>
            </a:r>
          </a:p>
        </p:txBody>
      </p:sp>
      <p:sp>
        <p:nvSpPr>
          <p:cNvPr id="17" name="">
            <a:extLst xmlns:a="http://schemas.openxmlformats.org/drawingml/2006/main">
              <a:ext uri="{FF2B5EF4-FFF2-40B4-BE49-F238E27FC236}">
                <a16:creationId xmlns:a16="http://schemas.microsoft.com/office/drawing/2014/main" id="{ED5B76A0-3B1E-4090-B748-D43738BF7287}"/>
              </a:ext>
            </a:extLst>
          </p:cNvPr>
          <p:cNvSpPr>
            <a:spLocks xmlns:a="http://schemas.openxmlformats.org/drawingml/2006/main" noGrp="1"/>
          </p:cNvSpPr>
          <p:nvPr/>
        </p:nvSpPr>
        <p:spPr>
          <a:xfrm xmlns:a="http://schemas.openxmlformats.org/drawingml/2006/main">
            <a:off x="25527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foot_fault_volley</a:t>
            </a:r>
          </a:p>
        </p:txBody>
      </p:sp>
      <p:sp>
        <p:nvSpPr>
          <p:cNvPr id="18" name="">
            <a:extLst xmlns:a="http://schemas.openxmlformats.org/drawingml/2006/main">
              <a:ext uri="{FF2B5EF4-FFF2-40B4-BE49-F238E27FC236}">
                <a16:creationId xmlns:a16="http://schemas.microsoft.com/office/drawing/2014/main" id="{28E4D498-5659-4203-8EFA-575DEBB61BD7}"/>
              </a:ext>
            </a:extLst>
          </p:cNvPr>
          <p:cNvSpPr>
            <a:spLocks xmlns:a="http://schemas.openxmlformats.org/drawingml/2006/main" noGrp="1"/>
          </p:cNvSpPr>
          <p:nvPr/>
        </p:nvSpPr>
        <p:spPr>
          <a:xfrm xmlns:a="http://schemas.openxmlformats.org/drawingml/2006/main">
            <a:off x="4114800" y="257175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6537492F-DDC3-40DC-926F-28A49F503CCB}"/>
              </a:ext>
            </a:extLst>
          </p:cNvPr>
          <p:cNvSpPr>
            <a:spLocks xmlns:a="http://schemas.openxmlformats.org/drawingml/2006/main" noGrp="1"/>
          </p:cNvSpPr>
          <p:nvPr/>
        </p:nvSpPr>
        <p:spPr>
          <a:xfrm xmlns:a="http://schemas.openxmlformats.org/drawingml/2006/main">
            <a:off x="4114800" y="2571750"/>
            <a:ext cx="1619250" cy="571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8DEDA70-507D-4DB2-9230-5091F8DBF5D8}"/>
              </a:ext>
            </a:extLst>
          </p:cNvPr>
          <p:cNvSpPr>
            <a:spLocks xmlns:a="http://schemas.openxmlformats.org/drawingml/2006/main" noGrp="1"/>
          </p:cNvSpPr>
          <p:nvPr/>
        </p:nvSpPr>
        <p:spPr>
          <a:xfrm xmlns:a="http://schemas.openxmlformats.org/drawingml/2006/main">
            <a:off x="4305300" y="274320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2</a:t>
            </a:r>
          </a:p>
        </p:txBody>
      </p:sp>
      <p:sp>
        <p:nvSpPr>
          <p:cNvPr id="21" name="">
            <a:extLst xmlns:a="http://schemas.openxmlformats.org/drawingml/2006/main">
              <a:ext uri="{FF2B5EF4-FFF2-40B4-BE49-F238E27FC236}">
                <a16:creationId xmlns:a16="http://schemas.microsoft.com/office/drawing/2014/main" id="{07CDF6F5-9039-46BF-B7B7-D5FEE3B1B861}"/>
              </a:ext>
            </a:extLst>
          </p:cNvPr>
          <p:cNvSpPr>
            <a:spLocks xmlns:a="http://schemas.openxmlformats.org/drawingml/2006/main" noGrp="1"/>
          </p:cNvSpPr>
          <p:nvPr/>
        </p:nvSpPr>
        <p:spPr>
          <a:xfrm xmlns:a="http://schemas.openxmlformats.org/drawingml/2006/main">
            <a:off x="4305300" y="325755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uncertain</a:t>
            </a:r>
          </a:p>
        </p:txBody>
      </p:sp>
      <p:sp>
        <p:nvSpPr>
          <p:cNvPr id="22" name="">
            <a:extLst xmlns:a="http://schemas.openxmlformats.org/drawingml/2006/main">
              <a:ext uri="{FF2B5EF4-FFF2-40B4-BE49-F238E27FC236}">
                <a16:creationId xmlns:a16="http://schemas.microsoft.com/office/drawing/2014/main" id="{DED0B348-8F94-4519-9095-4590D749E187}"/>
              </a:ext>
            </a:extLst>
          </p:cNvPr>
          <p:cNvSpPr>
            <a:spLocks xmlns:a="http://schemas.openxmlformats.org/drawingml/2006/main" noGrp="1"/>
          </p:cNvSpPr>
          <p:nvPr/>
        </p:nvSpPr>
        <p:spPr>
          <a:xfrm xmlns:a="http://schemas.openxmlformats.org/drawingml/2006/main">
            <a:off x="43053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hard cases stay reviewable</a:t>
            </a:r>
          </a:p>
        </p:txBody>
      </p:sp>
      <p:sp>
        <p:nvSpPr>
          <p:cNvPr id="23" name="">
            <a:extLst xmlns:a="http://schemas.openxmlformats.org/drawingml/2006/main">
              <a:ext uri="{FF2B5EF4-FFF2-40B4-BE49-F238E27FC236}">
                <a16:creationId xmlns:a16="http://schemas.microsoft.com/office/drawing/2014/main" id="{A382B972-6DD5-4006-A58E-10887E505EBD}"/>
              </a:ext>
            </a:extLst>
          </p:cNvPr>
          <p:cNvSpPr>
            <a:spLocks xmlns:a="http://schemas.openxmlformats.org/drawingml/2006/main" noGrp="1"/>
          </p:cNvSpPr>
          <p:nvPr/>
        </p:nvSpPr>
        <p:spPr>
          <a:xfrm xmlns:a="http://schemas.openxmlformats.org/drawingml/2006/main">
            <a:off x="5867400" y="257175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24" name="">
            <a:extLst xmlns:a="http://schemas.openxmlformats.org/drawingml/2006/main">
              <a:ext uri="{FF2B5EF4-FFF2-40B4-BE49-F238E27FC236}">
                <a16:creationId xmlns:a16="http://schemas.microsoft.com/office/drawing/2014/main" id="{AC09C306-883B-4865-B1A1-9C6E3960962A}"/>
              </a:ext>
            </a:extLst>
          </p:cNvPr>
          <p:cNvSpPr>
            <a:spLocks xmlns:a="http://schemas.openxmlformats.org/drawingml/2006/main" noGrp="1"/>
          </p:cNvSpPr>
          <p:nvPr/>
        </p:nvSpPr>
        <p:spPr>
          <a:xfrm xmlns:a="http://schemas.openxmlformats.org/drawingml/2006/main">
            <a:off x="5867400" y="2571750"/>
            <a:ext cx="1619250" cy="57150"/>
          </a:xfrm>
          <a:prstGeom xmlns:a="http://schemas.openxmlformats.org/drawingml/2006/main" prst="rect">
            <a:avLst/>
          </a:prstGeom>
          <a:solidFill xmlns:a="http://schemas.openxmlformats.org/drawingml/2006/main">
            <a:srgbClr val="60A5F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2F8D8F8-FE9A-45F7-AEFC-3E1F0D458CFE}"/>
              </a:ext>
            </a:extLst>
          </p:cNvPr>
          <p:cNvSpPr>
            <a:spLocks xmlns:a="http://schemas.openxmlformats.org/drawingml/2006/main" noGrp="1"/>
          </p:cNvSpPr>
          <p:nvPr/>
        </p:nvSpPr>
        <p:spPr>
          <a:xfrm xmlns:a="http://schemas.openxmlformats.org/drawingml/2006/main">
            <a:off x="6057900" y="274320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35.7%</a:t>
            </a:r>
          </a:p>
        </p:txBody>
      </p:sp>
      <p:sp>
        <p:nvSpPr>
          <p:cNvPr id="26" name="">
            <a:extLst xmlns:a="http://schemas.openxmlformats.org/drawingml/2006/main">
              <a:ext uri="{FF2B5EF4-FFF2-40B4-BE49-F238E27FC236}">
                <a16:creationId xmlns:a16="http://schemas.microsoft.com/office/drawing/2014/main" id="{A7B9ECAC-DCE2-4F81-8401-4B645E11F7D0}"/>
              </a:ext>
            </a:extLst>
          </p:cNvPr>
          <p:cNvSpPr>
            <a:spLocks xmlns:a="http://schemas.openxmlformats.org/drawingml/2006/main" noGrp="1"/>
          </p:cNvSpPr>
          <p:nvPr/>
        </p:nvSpPr>
        <p:spPr>
          <a:xfrm xmlns:a="http://schemas.openxmlformats.org/drawingml/2006/main">
            <a:off x="6057900" y="325755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ball detection rate</a:t>
            </a:r>
          </a:p>
        </p:txBody>
      </p:sp>
      <p:sp>
        <p:nvSpPr>
          <p:cNvPr id="27" name="">
            <a:extLst xmlns:a="http://schemas.openxmlformats.org/drawingml/2006/main">
              <a:ext uri="{FF2B5EF4-FFF2-40B4-BE49-F238E27FC236}">
                <a16:creationId xmlns:a16="http://schemas.microsoft.com/office/drawing/2014/main" id="{1FBB42A1-06E5-490C-9902-619ACEF9BEC9}"/>
              </a:ext>
            </a:extLst>
          </p:cNvPr>
          <p:cNvSpPr>
            <a:spLocks xmlns:a="http://schemas.openxmlformats.org/drawingml/2006/main" noGrp="1"/>
          </p:cNvSpPr>
          <p:nvPr/>
        </p:nvSpPr>
        <p:spPr>
          <a:xfrm xmlns:a="http://schemas.openxmlformats.org/drawingml/2006/main">
            <a:off x="6057900" y="3352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weakest current stage</a:t>
            </a:r>
          </a:p>
        </p:txBody>
      </p:sp>
      <p:sp>
        <p:nvSpPr>
          <p:cNvPr id="28" name="">
            <a:extLst xmlns:a="http://schemas.openxmlformats.org/drawingml/2006/main">
              <a:ext uri="{FF2B5EF4-FFF2-40B4-BE49-F238E27FC236}">
                <a16:creationId xmlns:a16="http://schemas.microsoft.com/office/drawing/2014/main" id="{CA7D777E-C95F-4EC4-B351-69285941873D}"/>
              </a:ext>
            </a:extLst>
          </p:cNvPr>
          <p:cNvSpPr>
            <a:spLocks xmlns:a="http://schemas.openxmlformats.org/drawingml/2006/main" noGrp="1"/>
          </p:cNvSpPr>
          <p:nvPr/>
        </p:nvSpPr>
        <p:spPr>
          <a:xfrm xmlns:a="http://schemas.openxmlformats.org/drawingml/2006/main">
            <a:off x="609600" y="4076700"/>
            <a:ext cx="5162550" cy="177165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1430">
            <a:solidFill>
              <a:srgbClr val="CBD5E1"/>
            </a:solidFill>
            <a:prstDash val="solid"/>
          </a:ln>
        </p:spPr>
      </p:sp>
      <p:sp>
        <p:nvSpPr>
          <p:cNvPr id="29" name="">
            <a:extLst xmlns:a="http://schemas.openxmlformats.org/drawingml/2006/main">
              <a:ext uri="{FF2B5EF4-FFF2-40B4-BE49-F238E27FC236}">
                <a16:creationId xmlns:a16="http://schemas.microsoft.com/office/drawing/2014/main" id="{49A5ECB8-9912-47C0-B889-9BF2EA375D41}"/>
              </a:ext>
            </a:extLst>
          </p:cNvPr>
          <p:cNvSpPr>
            <a:spLocks xmlns:a="http://schemas.openxmlformats.org/drawingml/2006/main" noGrp="1"/>
          </p:cNvSpPr>
          <p:nvPr/>
        </p:nvSpPr>
        <p:spPr>
          <a:xfrm xmlns:a="http://schemas.openxmlformats.org/drawingml/2006/main">
            <a:off x="609600" y="4076700"/>
            <a:ext cx="76200" cy="17716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92F73B97-CCC0-431A-8C52-22B5D9ED2537}"/>
              </a:ext>
            </a:extLst>
          </p:cNvPr>
          <p:cNvSpPr>
            <a:spLocks xmlns:a="http://schemas.openxmlformats.org/drawingml/2006/main" noGrp="1"/>
          </p:cNvSpPr>
          <p:nvPr/>
        </p:nvSpPr>
        <p:spPr>
          <a:xfrm xmlns:a="http://schemas.openxmlformats.org/drawingml/2006/main">
            <a:off x="838200" y="4248150"/>
            <a:ext cx="4781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What is already working</a:t>
            </a:r>
          </a:p>
        </p:txBody>
      </p:sp>
      <p:sp>
        <p:nvSpPr>
          <p:cNvPr id="31" name="">
            <a:extLst xmlns:a="http://schemas.openxmlformats.org/drawingml/2006/main">
              <a:ext uri="{FF2B5EF4-FFF2-40B4-BE49-F238E27FC236}">
                <a16:creationId xmlns:a16="http://schemas.microsoft.com/office/drawing/2014/main" id="{93F16167-ADD4-4539-AD20-59D1B9CEE37B}"/>
              </a:ext>
            </a:extLst>
          </p:cNvPr>
          <p:cNvSpPr>
            <a:spLocks xmlns:a="http://schemas.openxmlformats.org/drawingml/2006/main" noGrp="1"/>
          </p:cNvSpPr>
          <p:nvPr/>
        </p:nvSpPr>
        <p:spPr>
          <a:xfrm xmlns:a="http://schemas.openxmlformats.org/drawingml/2006/main">
            <a:off x="838200" y="4591050"/>
            <a:ext cx="476250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 Registration outputs are stable and explainable.</a:t>
            </a:r>
          </a:p>
          <a:p xmlns:a="http://schemas.openxmlformats.org/drawingml/2006/main">
            <a:pPr algn="l">
              <a:defRPr sz="1275" b="0">
                <a:solidFill>
                  <a:srgbClr val="111827"/>
                </a:solidFill>
              </a:defRPr>
            </a:pPr>
            <a:r>
              <a:rPr sz="1275" b="0">
                <a:solidFill>
                  <a:srgbClr val="111827"/>
                </a:solidFill>
              </a:rPr>
              <a:t>• The pipeline produces event-level artifacts and summaries.</a:t>
            </a:r>
          </a:p>
          <a:p xmlns:a="http://schemas.openxmlformats.org/drawingml/2006/main">
            <a:pPr algn="l">
              <a:defRPr sz="1275" b="0">
                <a:solidFill>
                  <a:srgbClr val="111827"/>
                </a:solidFill>
              </a:defRPr>
            </a:pPr>
            <a:r>
              <a:rPr sz="1275" b="0">
                <a:solidFill>
                  <a:srgbClr val="111827"/>
                </a:solidFill>
              </a:rPr>
              <a:t>• At least one clean event is labeled as a foot fault end-to-end.</a:t>
            </a:r>
          </a:p>
        </p:txBody>
      </p:sp>
      <p:sp>
        <p:nvSpPr>
          <p:cNvPr id="32" name="">
            <a:extLst xmlns:a="http://schemas.openxmlformats.org/drawingml/2006/main">
              <a:ext uri="{FF2B5EF4-FFF2-40B4-BE49-F238E27FC236}">
                <a16:creationId xmlns:a16="http://schemas.microsoft.com/office/drawing/2014/main" id="{3E891BE9-F163-4C2B-ADEF-055336E281FC}"/>
              </a:ext>
            </a:extLst>
          </p:cNvPr>
          <p:cNvSpPr>
            <a:spLocks xmlns:a="http://schemas.openxmlformats.org/drawingml/2006/main" noGrp="1"/>
          </p:cNvSpPr>
          <p:nvPr/>
        </p:nvSpPr>
        <p:spPr>
          <a:xfrm xmlns:a="http://schemas.openxmlformats.org/drawingml/2006/main">
            <a:off x="6057900" y="4076700"/>
            <a:ext cx="5162550" cy="177165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1430">
            <a:solidFill>
              <a:srgbClr val="CBD5E1"/>
            </a:solidFill>
            <a:prstDash val="solid"/>
          </a:ln>
        </p:spPr>
      </p:sp>
      <p:sp>
        <p:nvSpPr>
          <p:cNvPr id="33" name="">
            <a:extLst xmlns:a="http://schemas.openxmlformats.org/drawingml/2006/main">
              <a:ext uri="{FF2B5EF4-FFF2-40B4-BE49-F238E27FC236}">
                <a16:creationId xmlns:a16="http://schemas.microsoft.com/office/drawing/2014/main" id="{38705E22-2C0A-4FE9-8CAF-1889AA495CFF}"/>
              </a:ext>
            </a:extLst>
          </p:cNvPr>
          <p:cNvSpPr>
            <a:spLocks xmlns:a="http://schemas.openxmlformats.org/drawingml/2006/main" noGrp="1"/>
          </p:cNvSpPr>
          <p:nvPr/>
        </p:nvSpPr>
        <p:spPr>
          <a:xfrm xmlns:a="http://schemas.openxmlformats.org/drawingml/2006/main">
            <a:off x="6057900" y="4076700"/>
            <a:ext cx="76200" cy="17716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E9DC54C6-3AAC-478E-B86F-9201BC42A714}"/>
              </a:ext>
            </a:extLst>
          </p:cNvPr>
          <p:cNvSpPr>
            <a:spLocks xmlns:a="http://schemas.openxmlformats.org/drawingml/2006/main" noGrp="1"/>
          </p:cNvSpPr>
          <p:nvPr/>
        </p:nvSpPr>
        <p:spPr>
          <a:xfrm xmlns:a="http://schemas.openxmlformats.org/drawingml/2006/main">
            <a:off x="6286500" y="4248150"/>
            <a:ext cx="4781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What is still fragile</a:t>
            </a:r>
          </a:p>
        </p:txBody>
      </p:sp>
      <p:sp>
        <p:nvSpPr>
          <p:cNvPr id="35" name="">
            <a:extLst xmlns:a="http://schemas.openxmlformats.org/drawingml/2006/main">
              <a:ext uri="{FF2B5EF4-FFF2-40B4-BE49-F238E27FC236}">
                <a16:creationId xmlns:a16="http://schemas.microsoft.com/office/drawing/2014/main" id="{3C038370-C5CA-4BAC-BBEC-3B959980FD31}"/>
              </a:ext>
            </a:extLst>
          </p:cNvPr>
          <p:cNvSpPr>
            <a:spLocks xmlns:a="http://schemas.openxmlformats.org/drawingml/2006/main" noGrp="1"/>
          </p:cNvSpPr>
          <p:nvPr/>
        </p:nvSpPr>
        <p:spPr>
          <a:xfrm xmlns:a="http://schemas.openxmlformats.org/drawingml/2006/main">
            <a:off x="6286500" y="4591050"/>
            <a:ext cx="476250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 Ball detection and event timing are the weakest automatic stages.</a:t>
            </a:r>
          </a:p>
          <a:p xmlns:a="http://schemas.openxmlformats.org/drawingml/2006/main">
            <a:pPr algn="l">
              <a:defRPr sz="1275" b="0">
                <a:solidFill>
                  <a:srgbClr val="111827"/>
                </a:solidFill>
              </a:defRPr>
            </a:pPr>
            <a:r>
              <a:rPr sz="1275" b="0">
                <a:solidFill>
                  <a:srgbClr val="111827"/>
                </a:solidFill>
              </a:rPr>
              <a:t>• Some hard cases still require manual review and overrides.</a:t>
            </a:r>
          </a:p>
          <a:p xmlns:a="http://schemas.openxmlformats.org/drawingml/2006/main">
            <a:pPr algn="l">
              <a:defRPr sz="1275" b="0">
                <a:solidFill>
                  <a:srgbClr val="111827"/>
                </a:solidFill>
              </a:defRPr>
            </a:pPr>
            <a:r>
              <a:rPr sz="1275" b="0">
                <a:solidFill>
                  <a:srgbClr val="111827"/>
                </a:solidFill>
              </a:rPr>
              <a:t>• This is a demo workflow, not yet a production-grade referee.</a:t>
            </a:r>
          </a:p>
        </p:txBody>
      </p:sp>
    </p:spTree>
    <p:extLst>
      <p:ext uri="{BB962C8B-B14F-4D97-AF65-F5344CB8AC3E}">
        <p14:creationId xmlns:p14="http://schemas.microsoft.com/office/powerpoint/2010/main" val="653001812"/>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DEE302F-CF4D-4CEB-BADE-82160729D6C0}"/>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DETECTED FAULT</a:t>
            </a:r>
          </a:p>
        </p:txBody>
      </p:sp>
      <p:sp>
        <p:nvSpPr>
          <p:cNvPr id="3" name="">
            <a:extLst xmlns:a="http://schemas.openxmlformats.org/drawingml/2006/main">
              <a:ext uri="{FF2B5EF4-FFF2-40B4-BE49-F238E27FC236}">
                <a16:creationId xmlns:a16="http://schemas.microsoft.com/office/drawing/2014/main" id="{ABDA8567-717C-422C-AA48-9DC04D468FEA}"/>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07 / 10</a:t>
            </a:r>
          </a:p>
        </p:txBody>
      </p:sp>
      <p:sp>
        <p:nvSpPr>
          <p:cNvPr id="4" name="">
            <a:extLst xmlns:a="http://schemas.openxmlformats.org/drawingml/2006/main">
              <a:ext uri="{FF2B5EF4-FFF2-40B4-BE49-F238E27FC236}">
                <a16:creationId xmlns:a16="http://schemas.microsoft.com/office/drawing/2014/main" id="{905A166F-CBEA-4B01-AD6B-D7E4FCA233D6}"/>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7B3DF2F-33FB-4C6A-B320-7B1CBBBCAAA1}"/>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1B08F92-557F-4A94-9DA6-B49ED73945A6}"/>
              </a:ext>
            </a:extLst>
          </p:cNvPr>
          <p:cNvSpPr>
            <a:spLocks xmlns:a="http://schemas.openxmlformats.org/drawingml/2006/main" noGrp="1"/>
          </p:cNvSpPr>
          <p:nvPr/>
        </p:nvSpPr>
        <p:spPr>
          <a:xfrm xmlns:a="http://schemas.openxmlformats.org/drawingml/2006/main">
            <a:off x="609600" y="838200"/>
            <a:ext cx="5334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11827"/>
                </a:solidFill>
              </a:defRPr>
            </a:pPr>
            <a:r>
              <a:rPr sz="2325" b="1">
                <a:solidFill>
                  <a:srgbClr val="111827"/>
                </a:solidFill>
              </a:rPr>
              <a:t>The end-to-end demo can surface a clear foot-fault example</a:t>
            </a:r>
          </a:p>
        </p:txBody>
      </p:sp>
      <p:sp>
        <p:nvSpPr>
          <p:cNvPr id="7" name="">
            <a:extLst xmlns:a="http://schemas.openxmlformats.org/drawingml/2006/main">
              <a:ext uri="{FF2B5EF4-FFF2-40B4-BE49-F238E27FC236}">
                <a16:creationId xmlns:a16="http://schemas.microsoft.com/office/drawing/2014/main" id="{28DAA3C7-0881-425C-B82A-DECC814702CC}"/>
              </a:ext>
            </a:extLst>
          </p:cNvPr>
          <p:cNvSpPr>
            <a:spLocks xmlns:a="http://schemas.openxmlformats.org/drawingml/2006/main" noGrp="1"/>
          </p:cNvSpPr>
          <p:nvPr/>
        </p:nvSpPr>
        <p:spPr>
          <a:xfrm xmlns:a="http://schemas.openxmlformats.org/drawingml/2006/main">
            <a:off x="609600" y="1657350"/>
            <a:ext cx="5143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This event is labeled `foot_fault_volley` because the selected foot lands inside the non-volley zone after registration and active-side selection.</a:t>
            </a:r>
          </a:p>
        </p:txBody>
      </p:sp>
      <p:sp>
        <p:nvSpPr>
          <p:cNvPr id="8" name="">
            <a:extLst xmlns:a="http://schemas.openxmlformats.org/drawingml/2006/main">
              <a:ext uri="{FF2B5EF4-FFF2-40B4-BE49-F238E27FC236}">
                <a16:creationId xmlns:a16="http://schemas.microsoft.com/office/drawing/2014/main" id="{C98F7B9C-11CC-4556-8D68-942302C80CE3}"/>
              </a:ext>
            </a:extLst>
          </p:cNvPr>
          <p:cNvSpPr>
            <a:spLocks xmlns:a="http://schemas.openxmlformats.org/drawingml/2006/main" noGrp="1"/>
          </p:cNvSpPr>
          <p:nvPr/>
        </p:nvSpPr>
        <p:spPr>
          <a:xfrm xmlns:a="http://schemas.openxmlformats.org/drawingml/2006/main">
            <a:off x="609600" y="2457450"/>
            <a:ext cx="6667500" cy="3600450"/>
          </a:xfrm>
          <a:prstGeom xmlns:a="http://schemas.openxmlformats.org/drawingml/2006/main" prst="roundRect">
            <a:avLst>
              <a:gd name="adj" fmla="val 2116"/>
            </a:avLst>
          </a:prstGeom>
          <a:solidFill xmlns:a="http://schemas.openxmlformats.org/drawingml/2006/main">
            <a:srgbClr val="FFFFFF"/>
          </a:solidFill>
          <a:ln xmlns:a="http://schemas.openxmlformats.org/drawingml/2006/main" w="11430">
            <a:solidFill>
              <a:srgbClr val="CBD5E1"/>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db8fe0c65224ef7"/>
          <a:stretch xmlns:a="http://schemas.openxmlformats.org/drawingml/2006/main"/>
        </p:blipFill>
        <p:spPr>
          <a:xfrm xmlns:a="http://schemas.openxmlformats.org/drawingml/2006/main">
            <a:off x="912283" y="2552700"/>
            <a:ext cx="6062133" cy="340995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A094F632-8762-43A4-A768-92757B7F9158}"/>
              </a:ext>
            </a:extLst>
          </p:cNvPr>
          <p:cNvSpPr>
            <a:spLocks xmlns:a="http://schemas.openxmlformats.org/drawingml/2006/main" noGrp="1"/>
          </p:cNvSpPr>
          <p:nvPr/>
        </p:nvSpPr>
        <p:spPr>
          <a:xfrm xmlns:a="http://schemas.openxmlformats.org/drawingml/2006/main">
            <a:off x="7715250" y="2495550"/>
            <a:ext cx="17335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1" name="">
            <a:extLst xmlns:a="http://schemas.openxmlformats.org/drawingml/2006/main">
              <a:ext uri="{FF2B5EF4-FFF2-40B4-BE49-F238E27FC236}">
                <a16:creationId xmlns:a16="http://schemas.microsoft.com/office/drawing/2014/main" id="{40347D52-FD1E-4C25-9740-B8738777DAA8}"/>
              </a:ext>
            </a:extLst>
          </p:cNvPr>
          <p:cNvSpPr>
            <a:spLocks xmlns:a="http://schemas.openxmlformats.org/drawingml/2006/main" noGrp="1"/>
          </p:cNvSpPr>
          <p:nvPr/>
        </p:nvSpPr>
        <p:spPr>
          <a:xfrm xmlns:a="http://schemas.openxmlformats.org/drawingml/2006/main">
            <a:off x="7715250" y="2495550"/>
            <a:ext cx="1733550" cy="57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E8400C0-4EFF-41AF-8A43-E85B3141F677}"/>
              </a:ext>
            </a:extLst>
          </p:cNvPr>
          <p:cNvSpPr>
            <a:spLocks xmlns:a="http://schemas.openxmlformats.org/drawingml/2006/main" noGrp="1"/>
          </p:cNvSpPr>
          <p:nvPr/>
        </p:nvSpPr>
        <p:spPr>
          <a:xfrm xmlns:a="http://schemas.openxmlformats.org/drawingml/2006/main">
            <a:off x="7905750" y="2667000"/>
            <a:ext cx="13525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3</a:t>
            </a:r>
          </a:p>
        </p:txBody>
      </p:sp>
      <p:sp>
        <p:nvSpPr>
          <p:cNvPr id="13" name="">
            <a:extLst xmlns:a="http://schemas.openxmlformats.org/drawingml/2006/main">
              <a:ext uri="{FF2B5EF4-FFF2-40B4-BE49-F238E27FC236}">
                <a16:creationId xmlns:a16="http://schemas.microsoft.com/office/drawing/2014/main" id="{0D39618C-4E6E-4A82-BC99-07B52450E568}"/>
              </a:ext>
            </a:extLst>
          </p:cNvPr>
          <p:cNvSpPr>
            <a:spLocks xmlns:a="http://schemas.openxmlformats.org/drawingml/2006/main" noGrp="1"/>
          </p:cNvSpPr>
          <p:nvPr/>
        </p:nvSpPr>
        <p:spPr>
          <a:xfrm xmlns:a="http://schemas.openxmlformats.org/drawingml/2006/main">
            <a:off x="7905750" y="3181350"/>
            <a:ext cx="1352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events in demo</a:t>
            </a:r>
          </a:p>
        </p:txBody>
      </p:sp>
      <p:sp>
        <p:nvSpPr>
          <p:cNvPr id="14" name="">
            <a:extLst xmlns:a="http://schemas.openxmlformats.org/drawingml/2006/main">
              <a:ext uri="{FF2B5EF4-FFF2-40B4-BE49-F238E27FC236}">
                <a16:creationId xmlns:a16="http://schemas.microsoft.com/office/drawing/2014/main" id="{D6EBAB58-1892-48B2-9D34-4BC2862C0ADA}"/>
              </a:ext>
            </a:extLst>
          </p:cNvPr>
          <p:cNvSpPr>
            <a:spLocks xmlns:a="http://schemas.openxmlformats.org/drawingml/2006/main" noGrp="1"/>
          </p:cNvSpPr>
          <p:nvPr/>
        </p:nvSpPr>
        <p:spPr>
          <a:xfrm xmlns:a="http://schemas.openxmlformats.org/drawingml/2006/main">
            <a:off x="7905750" y="3276600"/>
            <a:ext cx="1352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presentation snapshot</a:t>
            </a:r>
          </a:p>
        </p:txBody>
      </p:sp>
      <p:sp>
        <p:nvSpPr>
          <p:cNvPr id="15" name="">
            <a:extLst xmlns:a="http://schemas.openxmlformats.org/drawingml/2006/main">
              <a:ext uri="{FF2B5EF4-FFF2-40B4-BE49-F238E27FC236}">
                <a16:creationId xmlns:a16="http://schemas.microsoft.com/office/drawing/2014/main" id="{C50C1AC1-3C43-40E8-866E-A0C7EB3E7A5F}"/>
              </a:ext>
            </a:extLst>
          </p:cNvPr>
          <p:cNvSpPr>
            <a:spLocks xmlns:a="http://schemas.openxmlformats.org/drawingml/2006/main" noGrp="1"/>
          </p:cNvSpPr>
          <p:nvPr/>
        </p:nvSpPr>
        <p:spPr>
          <a:xfrm xmlns:a="http://schemas.openxmlformats.org/drawingml/2006/main">
            <a:off x="9582150" y="2495550"/>
            <a:ext cx="17335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6" name="">
            <a:extLst xmlns:a="http://schemas.openxmlformats.org/drawingml/2006/main">
              <a:ext uri="{FF2B5EF4-FFF2-40B4-BE49-F238E27FC236}">
                <a16:creationId xmlns:a16="http://schemas.microsoft.com/office/drawing/2014/main" id="{73112FD3-DB3C-40BE-9B0C-4F3CE9F5DBED}"/>
              </a:ext>
            </a:extLst>
          </p:cNvPr>
          <p:cNvSpPr>
            <a:spLocks xmlns:a="http://schemas.openxmlformats.org/drawingml/2006/main" noGrp="1"/>
          </p:cNvSpPr>
          <p:nvPr/>
        </p:nvSpPr>
        <p:spPr>
          <a:xfrm xmlns:a="http://schemas.openxmlformats.org/drawingml/2006/main">
            <a:off x="9582150" y="2495550"/>
            <a:ext cx="17335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F7C0E5C-BED0-40F2-99C1-69FE8830FC0B}"/>
              </a:ext>
            </a:extLst>
          </p:cNvPr>
          <p:cNvSpPr>
            <a:spLocks xmlns:a="http://schemas.openxmlformats.org/drawingml/2006/main" noGrp="1"/>
          </p:cNvSpPr>
          <p:nvPr/>
        </p:nvSpPr>
        <p:spPr>
          <a:xfrm xmlns:a="http://schemas.openxmlformats.org/drawingml/2006/main">
            <a:off x="9772650" y="2667000"/>
            <a:ext cx="13525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1</a:t>
            </a:r>
          </a:p>
        </p:txBody>
      </p:sp>
      <p:sp>
        <p:nvSpPr>
          <p:cNvPr id="18" name="">
            <a:extLst xmlns:a="http://schemas.openxmlformats.org/drawingml/2006/main">
              <a:ext uri="{FF2B5EF4-FFF2-40B4-BE49-F238E27FC236}">
                <a16:creationId xmlns:a16="http://schemas.microsoft.com/office/drawing/2014/main" id="{54B9ED7D-5D69-4C97-BA5A-10BEA0CD82F1}"/>
              </a:ext>
            </a:extLst>
          </p:cNvPr>
          <p:cNvSpPr>
            <a:spLocks xmlns:a="http://schemas.openxmlformats.org/drawingml/2006/main" noGrp="1"/>
          </p:cNvSpPr>
          <p:nvPr/>
        </p:nvSpPr>
        <p:spPr>
          <a:xfrm xmlns:a="http://schemas.openxmlformats.org/drawingml/2006/main">
            <a:off x="9772650" y="3181350"/>
            <a:ext cx="1352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fault event</a:t>
            </a:r>
          </a:p>
        </p:txBody>
      </p:sp>
      <p:sp>
        <p:nvSpPr>
          <p:cNvPr id="19" name="">
            <a:extLst xmlns:a="http://schemas.openxmlformats.org/drawingml/2006/main">
              <a:ext uri="{FF2B5EF4-FFF2-40B4-BE49-F238E27FC236}">
                <a16:creationId xmlns:a16="http://schemas.microsoft.com/office/drawing/2014/main" id="{F7F2714F-9C60-4A48-AF9D-867C3C7D160C}"/>
              </a:ext>
            </a:extLst>
          </p:cNvPr>
          <p:cNvSpPr>
            <a:spLocks xmlns:a="http://schemas.openxmlformats.org/drawingml/2006/main" noGrp="1"/>
          </p:cNvSpPr>
          <p:nvPr/>
        </p:nvSpPr>
        <p:spPr>
          <a:xfrm xmlns:a="http://schemas.openxmlformats.org/drawingml/2006/main">
            <a:off x="9772650" y="3276600"/>
            <a:ext cx="1352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two more marked uncertain</a:t>
            </a:r>
          </a:p>
        </p:txBody>
      </p:sp>
      <p:sp>
        <p:nvSpPr>
          <p:cNvPr id="20" name="">
            <a:extLst xmlns:a="http://schemas.openxmlformats.org/drawingml/2006/main">
              <a:ext uri="{FF2B5EF4-FFF2-40B4-BE49-F238E27FC236}">
                <a16:creationId xmlns:a16="http://schemas.microsoft.com/office/drawing/2014/main" id="{C8D47B17-98AC-4586-93DA-51CF6672429D}"/>
              </a:ext>
            </a:extLst>
          </p:cNvPr>
          <p:cNvSpPr>
            <a:spLocks xmlns:a="http://schemas.openxmlformats.org/drawingml/2006/main" noGrp="1"/>
          </p:cNvSpPr>
          <p:nvPr/>
        </p:nvSpPr>
        <p:spPr>
          <a:xfrm xmlns:a="http://schemas.openxmlformats.org/drawingml/2006/main">
            <a:off x="7715250" y="3771900"/>
            <a:ext cx="17335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21" name="">
            <a:extLst xmlns:a="http://schemas.openxmlformats.org/drawingml/2006/main">
              <a:ext uri="{FF2B5EF4-FFF2-40B4-BE49-F238E27FC236}">
                <a16:creationId xmlns:a16="http://schemas.microsoft.com/office/drawing/2014/main" id="{695DF55A-8B61-4A67-81BC-625DFB46A7DA}"/>
              </a:ext>
            </a:extLst>
          </p:cNvPr>
          <p:cNvSpPr>
            <a:spLocks xmlns:a="http://schemas.openxmlformats.org/drawingml/2006/main" noGrp="1"/>
          </p:cNvSpPr>
          <p:nvPr/>
        </p:nvSpPr>
        <p:spPr>
          <a:xfrm xmlns:a="http://schemas.openxmlformats.org/drawingml/2006/main">
            <a:off x="7715250" y="3771900"/>
            <a:ext cx="1733550" cy="571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AC6618E-9564-4C2A-9024-49E4D8588995}"/>
              </a:ext>
            </a:extLst>
          </p:cNvPr>
          <p:cNvSpPr>
            <a:spLocks xmlns:a="http://schemas.openxmlformats.org/drawingml/2006/main" noGrp="1"/>
          </p:cNvSpPr>
          <p:nvPr/>
        </p:nvSpPr>
        <p:spPr>
          <a:xfrm xmlns:a="http://schemas.openxmlformats.org/drawingml/2006/main">
            <a:off x="7905750" y="3943350"/>
            <a:ext cx="13525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-10.78 px</a:t>
            </a:r>
          </a:p>
        </p:txBody>
      </p:sp>
      <p:sp>
        <p:nvSpPr>
          <p:cNvPr id="23" name="">
            <a:extLst xmlns:a="http://schemas.openxmlformats.org/drawingml/2006/main">
              <a:ext uri="{FF2B5EF4-FFF2-40B4-BE49-F238E27FC236}">
                <a16:creationId xmlns:a16="http://schemas.microsoft.com/office/drawing/2014/main" id="{2A61313E-4D04-4364-91A3-BFCD7078FD02}"/>
              </a:ext>
            </a:extLst>
          </p:cNvPr>
          <p:cNvSpPr>
            <a:spLocks xmlns:a="http://schemas.openxmlformats.org/drawingml/2006/main" noGrp="1"/>
          </p:cNvSpPr>
          <p:nvPr/>
        </p:nvSpPr>
        <p:spPr>
          <a:xfrm xmlns:a="http://schemas.openxmlformats.org/drawingml/2006/main">
            <a:off x="7905750" y="4457700"/>
            <a:ext cx="1352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signed distance</a:t>
            </a:r>
          </a:p>
        </p:txBody>
      </p:sp>
      <p:sp>
        <p:nvSpPr>
          <p:cNvPr id="24" name="">
            <a:extLst xmlns:a="http://schemas.openxmlformats.org/drawingml/2006/main">
              <a:ext uri="{FF2B5EF4-FFF2-40B4-BE49-F238E27FC236}">
                <a16:creationId xmlns:a16="http://schemas.microsoft.com/office/drawing/2014/main" id="{C12FB0BD-E4DA-4F46-A7EB-F1555370A660}"/>
              </a:ext>
            </a:extLst>
          </p:cNvPr>
          <p:cNvSpPr>
            <a:spLocks xmlns:a="http://schemas.openxmlformats.org/drawingml/2006/main" noGrp="1"/>
          </p:cNvSpPr>
          <p:nvPr/>
        </p:nvSpPr>
        <p:spPr>
          <a:xfrm xmlns:a="http://schemas.openxmlformats.org/drawingml/2006/main">
            <a:off x="7905750" y="4552950"/>
            <a:ext cx="1352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fault side of threshold</a:t>
            </a:r>
          </a:p>
        </p:txBody>
      </p:sp>
      <p:sp>
        <p:nvSpPr>
          <p:cNvPr id="25" name="">
            <a:extLst xmlns:a="http://schemas.openxmlformats.org/drawingml/2006/main">
              <a:ext uri="{FF2B5EF4-FFF2-40B4-BE49-F238E27FC236}">
                <a16:creationId xmlns:a16="http://schemas.microsoft.com/office/drawing/2014/main" id="{CCD85225-447F-4ADC-BEC0-C1164759CD16}"/>
              </a:ext>
            </a:extLst>
          </p:cNvPr>
          <p:cNvSpPr>
            <a:spLocks xmlns:a="http://schemas.openxmlformats.org/drawingml/2006/main" noGrp="1"/>
          </p:cNvSpPr>
          <p:nvPr/>
        </p:nvSpPr>
        <p:spPr>
          <a:xfrm xmlns:a="http://schemas.openxmlformats.org/drawingml/2006/main">
            <a:off x="9582150" y="3771900"/>
            <a:ext cx="17335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26" name="">
            <a:extLst xmlns:a="http://schemas.openxmlformats.org/drawingml/2006/main">
              <a:ext uri="{FF2B5EF4-FFF2-40B4-BE49-F238E27FC236}">
                <a16:creationId xmlns:a16="http://schemas.microsoft.com/office/drawing/2014/main" id="{79F760E6-698B-4490-BC3F-D61EAC3F247A}"/>
              </a:ext>
            </a:extLst>
          </p:cNvPr>
          <p:cNvSpPr>
            <a:spLocks xmlns:a="http://schemas.openxmlformats.org/drawingml/2006/main" noGrp="1"/>
          </p:cNvSpPr>
          <p:nvPr/>
        </p:nvSpPr>
        <p:spPr>
          <a:xfrm xmlns:a="http://schemas.openxmlformats.org/drawingml/2006/main">
            <a:off x="9582150" y="3771900"/>
            <a:ext cx="1733550" cy="57150"/>
          </a:xfrm>
          <a:prstGeom xmlns:a="http://schemas.openxmlformats.org/drawingml/2006/main" prst="rect">
            <a:avLst/>
          </a:prstGeom>
          <a:solidFill xmlns:a="http://schemas.openxmlformats.org/drawingml/2006/main">
            <a:srgbClr val="60A5F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D071367-F37B-470A-A171-8A1D75DE93BD}"/>
              </a:ext>
            </a:extLst>
          </p:cNvPr>
          <p:cNvSpPr>
            <a:spLocks xmlns:a="http://schemas.openxmlformats.org/drawingml/2006/main" noGrp="1"/>
          </p:cNvSpPr>
          <p:nvPr/>
        </p:nvSpPr>
        <p:spPr>
          <a:xfrm xmlns:a="http://schemas.openxmlformats.org/drawingml/2006/main">
            <a:off x="9772650" y="3943350"/>
            <a:ext cx="13525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5 px</a:t>
            </a:r>
          </a:p>
        </p:txBody>
      </p:sp>
      <p:sp>
        <p:nvSpPr>
          <p:cNvPr id="28" name="">
            <a:extLst xmlns:a="http://schemas.openxmlformats.org/drawingml/2006/main">
              <a:ext uri="{FF2B5EF4-FFF2-40B4-BE49-F238E27FC236}">
                <a16:creationId xmlns:a16="http://schemas.microsoft.com/office/drawing/2014/main" id="{21A1E378-A894-4124-B302-8C1C01CCA076}"/>
              </a:ext>
            </a:extLst>
          </p:cNvPr>
          <p:cNvSpPr>
            <a:spLocks xmlns:a="http://schemas.openxmlformats.org/drawingml/2006/main" noGrp="1"/>
          </p:cNvSpPr>
          <p:nvPr/>
        </p:nvSpPr>
        <p:spPr>
          <a:xfrm xmlns:a="http://schemas.openxmlformats.org/drawingml/2006/main">
            <a:off x="9772650" y="4457700"/>
            <a:ext cx="1352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fault threshold</a:t>
            </a:r>
          </a:p>
        </p:txBody>
      </p:sp>
      <p:sp>
        <p:nvSpPr>
          <p:cNvPr id="29" name="">
            <a:extLst xmlns:a="http://schemas.openxmlformats.org/drawingml/2006/main">
              <a:ext uri="{FF2B5EF4-FFF2-40B4-BE49-F238E27FC236}">
                <a16:creationId xmlns:a16="http://schemas.microsoft.com/office/drawing/2014/main" id="{B8FBCB1F-8D8B-42F1-B42D-00716AFE00A1}"/>
              </a:ext>
            </a:extLst>
          </p:cNvPr>
          <p:cNvSpPr>
            <a:spLocks xmlns:a="http://schemas.openxmlformats.org/drawingml/2006/main" noGrp="1"/>
          </p:cNvSpPr>
          <p:nvPr/>
        </p:nvSpPr>
        <p:spPr>
          <a:xfrm xmlns:a="http://schemas.openxmlformats.org/drawingml/2006/main">
            <a:off x="9772650" y="4552950"/>
            <a:ext cx="1352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margin before uncertainty</a:t>
            </a:r>
          </a:p>
        </p:txBody>
      </p:sp>
      <p:sp>
        <p:nvSpPr>
          <p:cNvPr id="30" name="">
            <a:extLst xmlns:a="http://schemas.openxmlformats.org/drawingml/2006/main">
              <a:ext uri="{FF2B5EF4-FFF2-40B4-BE49-F238E27FC236}">
                <a16:creationId xmlns:a16="http://schemas.microsoft.com/office/drawing/2014/main" id="{ACB389C8-F9E2-4AF3-96A9-3AB2F54FA9D7}"/>
              </a:ext>
            </a:extLst>
          </p:cNvPr>
          <p:cNvSpPr>
            <a:spLocks xmlns:a="http://schemas.openxmlformats.org/drawingml/2006/main" noGrp="1"/>
          </p:cNvSpPr>
          <p:nvPr/>
        </p:nvSpPr>
        <p:spPr>
          <a:xfrm xmlns:a="http://schemas.openxmlformats.org/drawingml/2006/main">
            <a:off x="7715250" y="4972050"/>
            <a:ext cx="36004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11430">
            <a:solidFill>
              <a:srgbClr val="CBD5E1"/>
            </a:solidFill>
            <a:prstDash val="solid"/>
          </a:ln>
        </p:spPr>
      </p:sp>
      <p:sp>
        <p:nvSpPr>
          <p:cNvPr id="31" name="">
            <a:extLst xmlns:a="http://schemas.openxmlformats.org/drawingml/2006/main">
              <a:ext uri="{FF2B5EF4-FFF2-40B4-BE49-F238E27FC236}">
                <a16:creationId xmlns:a16="http://schemas.microsoft.com/office/drawing/2014/main" id="{5A4C0884-BE3E-4DD6-914A-F60D335698F5}"/>
              </a:ext>
            </a:extLst>
          </p:cNvPr>
          <p:cNvSpPr>
            <a:spLocks xmlns:a="http://schemas.openxmlformats.org/drawingml/2006/main" noGrp="1"/>
          </p:cNvSpPr>
          <p:nvPr/>
        </p:nvSpPr>
        <p:spPr>
          <a:xfrm xmlns:a="http://schemas.openxmlformats.org/drawingml/2006/main">
            <a:off x="7715250" y="4972050"/>
            <a:ext cx="76200" cy="10858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7C3DA623-305D-44D7-B417-05BBF6793DB1}"/>
              </a:ext>
            </a:extLst>
          </p:cNvPr>
          <p:cNvSpPr>
            <a:spLocks xmlns:a="http://schemas.openxmlformats.org/drawingml/2006/main" noGrp="1"/>
          </p:cNvSpPr>
          <p:nvPr/>
        </p:nvSpPr>
        <p:spPr>
          <a:xfrm xmlns:a="http://schemas.openxmlformats.org/drawingml/2006/main">
            <a:off x="7962900" y="5143500"/>
            <a:ext cx="3162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Interpretability</a:t>
            </a:r>
          </a:p>
        </p:txBody>
      </p:sp>
      <p:sp>
        <p:nvSpPr>
          <p:cNvPr id="33" name="">
            <a:extLst xmlns:a="http://schemas.openxmlformats.org/drawingml/2006/main">
              <a:ext uri="{FF2B5EF4-FFF2-40B4-BE49-F238E27FC236}">
                <a16:creationId xmlns:a16="http://schemas.microsoft.com/office/drawing/2014/main" id="{38D7089F-C7E5-4BE7-9422-25C83EA42DD6}"/>
              </a:ext>
            </a:extLst>
          </p:cNvPr>
          <p:cNvSpPr>
            <a:spLocks xmlns:a="http://schemas.openxmlformats.org/drawingml/2006/main" noGrp="1"/>
          </p:cNvSpPr>
          <p:nvPr/>
        </p:nvSpPr>
        <p:spPr>
          <a:xfrm xmlns:a="http://schemas.openxmlformats.org/drawingml/2006/main">
            <a:off x="7962900" y="5486400"/>
            <a:ext cx="3162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2318"/>
          </a:bodyPr>
          <a:lstStyle xmlns:a="http://schemas.openxmlformats.org/drawingml/2006/main"/>
          <a:p xmlns:a="http://schemas.openxmlformats.org/drawingml/2006/main">
            <a:pPr algn="l">
              <a:defRPr sz="1275" b="0">
                <a:solidFill>
                  <a:srgbClr val="111827"/>
                </a:solidFill>
              </a:defRPr>
            </a:pPr>
            <a:r>
              <a:rPr sz="1275" b="0">
                <a:solidFill>
                  <a:srgbClr val="111827"/>
                </a:solidFill>
              </a:rPr>
              <a:t>The label is explainable: court line, active player side, localized foot point, and signed distance all remain visible in the frame.</a:t>
            </a:r>
          </a:p>
        </p:txBody>
      </p:sp>
    </p:spTree>
    <p:extLst>
      <p:ext uri="{BB962C8B-B14F-4D97-AF65-F5344CB8AC3E}">
        <p14:creationId xmlns:p14="http://schemas.microsoft.com/office/powerpoint/2010/main" val="761305944"/>
      </p:ext>
    </p:extLst>
  </p:cSld>
</p:sld>
</file>

<file path=ppt/slides/slide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D807509-5978-4B6B-8536-EEC7B0647D0A}"/>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UNCERTAINTY</a:t>
            </a:r>
          </a:p>
        </p:txBody>
      </p:sp>
      <p:sp>
        <p:nvSpPr>
          <p:cNvPr id="3" name="">
            <a:extLst xmlns:a="http://schemas.openxmlformats.org/drawingml/2006/main">
              <a:ext uri="{FF2B5EF4-FFF2-40B4-BE49-F238E27FC236}">
                <a16:creationId xmlns:a16="http://schemas.microsoft.com/office/drawing/2014/main" id="{FCB465F2-2CA9-4C9D-A255-1E39C039E9FE}"/>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08 / 10</a:t>
            </a:r>
          </a:p>
        </p:txBody>
      </p:sp>
      <p:sp>
        <p:nvSpPr>
          <p:cNvPr id="4" name="">
            <a:extLst xmlns:a="http://schemas.openxmlformats.org/drawingml/2006/main">
              <a:ext uri="{FF2B5EF4-FFF2-40B4-BE49-F238E27FC236}">
                <a16:creationId xmlns:a16="http://schemas.microsoft.com/office/drawing/2014/main" id="{BFE83304-8DD7-4A20-9F0A-0CDE0189053A}"/>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B182E85-FFB2-4E0C-8F39-ECBF91C4A4A9}"/>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44982D7-DCE4-4A2F-B3A4-868A2BAF034E}"/>
              </a:ext>
            </a:extLst>
          </p:cNvPr>
          <p:cNvSpPr>
            <a:spLocks xmlns:a="http://schemas.openxmlformats.org/drawingml/2006/main" noGrp="1"/>
          </p:cNvSpPr>
          <p:nvPr/>
        </p:nvSpPr>
        <p:spPr>
          <a:xfrm xmlns:a="http://schemas.openxmlformats.org/drawingml/2006/main">
            <a:off x="609600" y="838200"/>
            <a:ext cx="5143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11827"/>
                </a:solidFill>
              </a:defRPr>
            </a:pPr>
            <a:r>
              <a:rPr sz="2325" b="1">
                <a:solidFill>
                  <a:srgbClr val="111827"/>
                </a:solidFill>
              </a:rPr>
              <a:t>Uncertain is a deliberate outcome, not a failure state</a:t>
            </a:r>
          </a:p>
        </p:txBody>
      </p:sp>
      <p:sp>
        <p:nvSpPr>
          <p:cNvPr id="7" name="">
            <a:extLst xmlns:a="http://schemas.openxmlformats.org/drawingml/2006/main">
              <a:ext uri="{FF2B5EF4-FFF2-40B4-BE49-F238E27FC236}">
                <a16:creationId xmlns:a16="http://schemas.microsoft.com/office/drawing/2014/main" id="{24F240EE-C94A-4015-B687-226D4FDB0AF1}"/>
              </a:ext>
            </a:extLst>
          </p:cNvPr>
          <p:cNvSpPr>
            <a:spLocks xmlns:a="http://schemas.openxmlformats.org/drawingml/2006/main" noGrp="1"/>
          </p:cNvSpPr>
          <p:nvPr/>
        </p:nvSpPr>
        <p:spPr>
          <a:xfrm xmlns:a="http://schemas.openxmlformats.org/drawingml/2006/main">
            <a:off x="609600" y="1657350"/>
            <a:ext cx="51054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334155"/>
                </a:solidFill>
              </a:defRPr>
            </a:pPr>
            <a:r>
              <a:rPr sz="1350" b="0">
                <a:solidFill>
                  <a:srgbClr val="334155"/>
                </a:solidFill>
              </a:rPr>
              <a:t>When the foot is near the line, the ball timing is noisy, or the active side is less certain, abstaining is safer than forcing a wrong call.</a:t>
            </a:r>
          </a:p>
        </p:txBody>
      </p:sp>
      <p:sp>
        <p:nvSpPr>
          <p:cNvPr id="8" name="">
            <a:extLst xmlns:a="http://schemas.openxmlformats.org/drawingml/2006/main">
              <a:ext uri="{FF2B5EF4-FFF2-40B4-BE49-F238E27FC236}">
                <a16:creationId xmlns:a16="http://schemas.microsoft.com/office/drawing/2014/main" id="{346FCAF7-B92A-49C4-A11D-A4056B9FB6AF}"/>
              </a:ext>
            </a:extLst>
          </p:cNvPr>
          <p:cNvSpPr>
            <a:spLocks xmlns:a="http://schemas.openxmlformats.org/drawingml/2006/main" noGrp="1"/>
          </p:cNvSpPr>
          <p:nvPr/>
        </p:nvSpPr>
        <p:spPr>
          <a:xfrm xmlns:a="http://schemas.openxmlformats.org/drawingml/2006/main">
            <a:off x="609600" y="266700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9" name="">
            <a:extLst xmlns:a="http://schemas.openxmlformats.org/drawingml/2006/main">
              <a:ext uri="{FF2B5EF4-FFF2-40B4-BE49-F238E27FC236}">
                <a16:creationId xmlns:a16="http://schemas.microsoft.com/office/drawing/2014/main" id="{542011D5-8172-4F96-AE51-BCD899C3C6FD}"/>
              </a:ext>
            </a:extLst>
          </p:cNvPr>
          <p:cNvSpPr>
            <a:spLocks xmlns:a="http://schemas.openxmlformats.org/drawingml/2006/main" noGrp="1"/>
          </p:cNvSpPr>
          <p:nvPr/>
        </p:nvSpPr>
        <p:spPr>
          <a:xfrm xmlns:a="http://schemas.openxmlformats.org/drawingml/2006/main">
            <a:off x="609600" y="2667000"/>
            <a:ext cx="1619250" cy="571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F31E2AE-D3AE-4FD0-9AEE-983615A0F9FD}"/>
              </a:ext>
            </a:extLst>
          </p:cNvPr>
          <p:cNvSpPr>
            <a:spLocks xmlns:a="http://schemas.openxmlformats.org/drawingml/2006/main" noGrp="1"/>
          </p:cNvSpPr>
          <p:nvPr/>
        </p:nvSpPr>
        <p:spPr>
          <a:xfrm xmlns:a="http://schemas.openxmlformats.org/drawingml/2006/main">
            <a:off x="800100" y="28384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2</a:t>
            </a:r>
          </a:p>
        </p:txBody>
      </p:sp>
      <p:sp>
        <p:nvSpPr>
          <p:cNvPr id="11" name="">
            <a:extLst xmlns:a="http://schemas.openxmlformats.org/drawingml/2006/main">
              <a:ext uri="{FF2B5EF4-FFF2-40B4-BE49-F238E27FC236}">
                <a16:creationId xmlns:a16="http://schemas.microsoft.com/office/drawing/2014/main" id="{37CAD744-A086-4D36-8905-5CF0B5BB8A53}"/>
              </a:ext>
            </a:extLst>
          </p:cNvPr>
          <p:cNvSpPr>
            <a:spLocks xmlns:a="http://schemas.openxmlformats.org/drawingml/2006/main" noGrp="1"/>
          </p:cNvSpPr>
          <p:nvPr/>
        </p:nvSpPr>
        <p:spPr>
          <a:xfrm xmlns:a="http://schemas.openxmlformats.org/drawingml/2006/main">
            <a:off x="800100" y="33528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uncertain events</a:t>
            </a:r>
          </a:p>
        </p:txBody>
      </p:sp>
      <p:sp>
        <p:nvSpPr>
          <p:cNvPr id="12" name="">
            <a:extLst xmlns:a="http://schemas.openxmlformats.org/drawingml/2006/main">
              <a:ext uri="{FF2B5EF4-FFF2-40B4-BE49-F238E27FC236}">
                <a16:creationId xmlns:a16="http://schemas.microsoft.com/office/drawing/2014/main" id="{52599FBF-B6A6-46A5-BFA5-C8EC2B9B736C}"/>
              </a:ext>
            </a:extLst>
          </p:cNvPr>
          <p:cNvSpPr>
            <a:spLocks xmlns:a="http://schemas.openxmlformats.org/drawingml/2006/main" noGrp="1"/>
          </p:cNvSpPr>
          <p:nvPr/>
        </p:nvSpPr>
        <p:spPr>
          <a:xfrm xmlns:a="http://schemas.openxmlformats.org/drawingml/2006/main">
            <a:off x="800100" y="34480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out of 3 demo events</a:t>
            </a:r>
          </a:p>
        </p:txBody>
      </p:sp>
      <p:sp>
        <p:nvSpPr>
          <p:cNvPr id="13" name="">
            <a:extLst xmlns:a="http://schemas.openxmlformats.org/drawingml/2006/main">
              <a:ext uri="{FF2B5EF4-FFF2-40B4-BE49-F238E27FC236}">
                <a16:creationId xmlns:a16="http://schemas.microsoft.com/office/drawing/2014/main" id="{37C3BD8A-79B2-4530-8D8F-279AB1C041CB}"/>
              </a:ext>
            </a:extLst>
          </p:cNvPr>
          <p:cNvSpPr>
            <a:spLocks xmlns:a="http://schemas.openxmlformats.org/drawingml/2006/main" noGrp="1"/>
          </p:cNvSpPr>
          <p:nvPr/>
        </p:nvSpPr>
        <p:spPr>
          <a:xfrm xmlns:a="http://schemas.openxmlformats.org/drawingml/2006/main">
            <a:off x="2362200" y="266700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4" name="">
            <a:extLst xmlns:a="http://schemas.openxmlformats.org/drawingml/2006/main">
              <a:ext uri="{FF2B5EF4-FFF2-40B4-BE49-F238E27FC236}">
                <a16:creationId xmlns:a16="http://schemas.microsoft.com/office/drawing/2014/main" id="{0D805A38-8411-4A5F-AEA1-3F147AE27070}"/>
              </a:ext>
            </a:extLst>
          </p:cNvPr>
          <p:cNvSpPr>
            <a:spLocks xmlns:a="http://schemas.openxmlformats.org/drawingml/2006/main" noGrp="1"/>
          </p:cNvSpPr>
          <p:nvPr/>
        </p:nvSpPr>
        <p:spPr>
          <a:xfrm xmlns:a="http://schemas.openxmlformats.org/drawingml/2006/main">
            <a:off x="2362200" y="2667000"/>
            <a:ext cx="1619250" cy="571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631C3F1-24AF-4F13-B996-C176492FA133}"/>
              </a:ext>
            </a:extLst>
          </p:cNvPr>
          <p:cNvSpPr>
            <a:spLocks xmlns:a="http://schemas.openxmlformats.org/drawingml/2006/main" noGrp="1"/>
          </p:cNvSpPr>
          <p:nvPr/>
        </p:nvSpPr>
        <p:spPr>
          <a:xfrm xmlns:a="http://schemas.openxmlformats.org/drawingml/2006/main">
            <a:off x="2552700" y="28384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15 px</a:t>
            </a:r>
          </a:p>
        </p:txBody>
      </p:sp>
      <p:sp>
        <p:nvSpPr>
          <p:cNvPr id="16" name="">
            <a:extLst xmlns:a="http://schemas.openxmlformats.org/drawingml/2006/main">
              <a:ext uri="{FF2B5EF4-FFF2-40B4-BE49-F238E27FC236}">
                <a16:creationId xmlns:a16="http://schemas.microsoft.com/office/drawing/2014/main" id="{3C8F63D4-E63F-4407-AE52-C8FE520E8703}"/>
              </a:ext>
            </a:extLst>
          </p:cNvPr>
          <p:cNvSpPr>
            <a:spLocks xmlns:a="http://schemas.openxmlformats.org/drawingml/2006/main" noGrp="1"/>
          </p:cNvSpPr>
          <p:nvPr/>
        </p:nvSpPr>
        <p:spPr>
          <a:xfrm xmlns:a="http://schemas.openxmlformats.org/drawingml/2006/main">
            <a:off x="2552700" y="33528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uncertain margin</a:t>
            </a:r>
          </a:p>
        </p:txBody>
      </p:sp>
      <p:sp>
        <p:nvSpPr>
          <p:cNvPr id="17" name="">
            <a:extLst xmlns:a="http://schemas.openxmlformats.org/drawingml/2006/main">
              <a:ext uri="{FF2B5EF4-FFF2-40B4-BE49-F238E27FC236}">
                <a16:creationId xmlns:a16="http://schemas.microsoft.com/office/drawing/2014/main" id="{F61E0580-A560-4BB9-A267-503EF23782C6}"/>
              </a:ext>
            </a:extLst>
          </p:cNvPr>
          <p:cNvSpPr>
            <a:spLocks xmlns:a="http://schemas.openxmlformats.org/drawingml/2006/main" noGrp="1"/>
          </p:cNvSpPr>
          <p:nvPr/>
        </p:nvSpPr>
        <p:spPr>
          <a:xfrm xmlns:a="http://schemas.openxmlformats.org/drawingml/2006/main">
            <a:off x="2552700" y="34480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configured guard band</a:t>
            </a:r>
          </a:p>
        </p:txBody>
      </p:sp>
      <p:sp>
        <p:nvSpPr>
          <p:cNvPr id="18" name="">
            <a:extLst xmlns:a="http://schemas.openxmlformats.org/drawingml/2006/main">
              <a:ext uri="{FF2B5EF4-FFF2-40B4-BE49-F238E27FC236}">
                <a16:creationId xmlns:a16="http://schemas.microsoft.com/office/drawing/2014/main" id="{62B4229E-E6AE-4486-AD2A-8280948D1CC7}"/>
              </a:ext>
            </a:extLst>
          </p:cNvPr>
          <p:cNvSpPr>
            <a:spLocks xmlns:a="http://schemas.openxmlformats.org/drawingml/2006/main" noGrp="1"/>
          </p:cNvSpPr>
          <p:nvPr/>
        </p:nvSpPr>
        <p:spPr>
          <a:xfrm xmlns:a="http://schemas.openxmlformats.org/drawingml/2006/main">
            <a:off x="4114800" y="2667000"/>
            <a:ext cx="1619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2557A63E-1D9F-4700-A93D-31DF14584CE3}"/>
              </a:ext>
            </a:extLst>
          </p:cNvPr>
          <p:cNvSpPr>
            <a:spLocks xmlns:a="http://schemas.openxmlformats.org/drawingml/2006/main" noGrp="1"/>
          </p:cNvSpPr>
          <p:nvPr/>
        </p:nvSpPr>
        <p:spPr>
          <a:xfrm xmlns:a="http://schemas.openxmlformats.org/drawingml/2006/main">
            <a:off x="4114800" y="2667000"/>
            <a:ext cx="1619250" cy="571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8E109BB-D33D-4BFF-A0AC-828DCD98A073}"/>
              </a:ext>
            </a:extLst>
          </p:cNvPr>
          <p:cNvSpPr>
            <a:spLocks xmlns:a="http://schemas.openxmlformats.org/drawingml/2006/main" noGrp="1"/>
          </p:cNvSpPr>
          <p:nvPr/>
        </p:nvSpPr>
        <p:spPr>
          <a:xfrm xmlns:a="http://schemas.openxmlformats.org/drawingml/2006/main">
            <a:off x="4305300" y="2838450"/>
            <a:ext cx="123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11827"/>
                </a:solidFill>
              </a:defRPr>
            </a:pPr>
            <a:r>
              <a:rPr sz="2250" b="1">
                <a:solidFill>
                  <a:srgbClr val="111827"/>
                </a:solidFill>
              </a:rPr>
              <a:t>0.551</a:t>
            </a:r>
          </a:p>
        </p:txBody>
      </p:sp>
      <p:sp>
        <p:nvSpPr>
          <p:cNvPr id="21" name="">
            <a:extLst xmlns:a="http://schemas.openxmlformats.org/drawingml/2006/main">
              <a:ext uri="{FF2B5EF4-FFF2-40B4-BE49-F238E27FC236}">
                <a16:creationId xmlns:a16="http://schemas.microsoft.com/office/drawing/2014/main" id="{7BAF04DC-60F9-4E5F-BA5A-677D4CAD36E8}"/>
              </a:ext>
            </a:extLst>
          </p:cNvPr>
          <p:cNvSpPr>
            <a:spLocks xmlns:a="http://schemas.openxmlformats.org/drawingml/2006/main" noGrp="1"/>
          </p:cNvSpPr>
          <p:nvPr/>
        </p:nvSpPr>
        <p:spPr>
          <a:xfrm xmlns:a="http://schemas.openxmlformats.org/drawingml/2006/main">
            <a:off x="4305300" y="3352800"/>
            <a:ext cx="123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334155"/>
                </a:solidFill>
              </a:defRPr>
            </a:pPr>
            <a:r>
              <a:rPr sz="1125" b="0">
                <a:solidFill>
                  <a:srgbClr val="334155"/>
                </a:solidFill>
              </a:rPr>
              <a:t>active-side confidence</a:t>
            </a:r>
          </a:p>
        </p:txBody>
      </p:sp>
      <p:sp>
        <p:nvSpPr>
          <p:cNvPr id="22" name="">
            <a:extLst xmlns:a="http://schemas.openxmlformats.org/drawingml/2006/main">
              <a:ext uri="{FF2B5EF4-FFF2-40B4-BE49-F238E27FC236}">
                <a16:creationId xmlns:a16="http://schemas.microsoft.com/office/drawing/2014/main" id="{F93B7B41-9316-4307-8111-B70CE1729331}"/>
              </a:ext>
            </a:extLst>
          </p:cNvPr>
          <p:cNvSpPr>
            <a:spLocks xmlns:a="http://schemas.openxmlformats.org/drawingml/2006/main" noGrp="1"/>
          </p:cNvSpPr>
          <p:nvPr/>
        </p:nvSpPr>
        <p:spPr>
          <a:xfrm xmlns:a="http://schemas.openxmlformats.org/drawingml/2006/main">
            <a:off x="4305300" y="34480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defRPr>
            </a:pPr>
            <a:r>
              <a:rPr sz="750" b="0">
                <a:solidFill>
                  <a:srgbClr val="64748B"/>
                </a:solidFill>
              </a:rPr>
              <a:t>example uncertain case</a:t>
            </a:r>
          </a:p>
        </p:txBody>
      </p:sp>
      <p:sp>
        <p:nvSpPr>
          <p:cNvPr id="23" name="">
            <a:extLst xmlns:a="http://schemas.openxmlformats.org/drawingml/2006/main">
              <a:ext uri="{FF2B5EF4-FFF2-40B4-BE49-F238E27FC236}">
                <a16:creationId xmlns:a16="http://schemas.microsoft.com/office/drawing/2014/main" id="{48750D5D-ED6B-42E9-9887-688F13C43D79}"/>
              </a:ext>
            </a:extLst>
          </p:cNvPr>
          <p:cNvSpPr>
            <a:spLocks xmlns:a="http://schemas.openxmlformats.org/drawingml/2006/main" noGrp="1"/>
          </p:cNvSpPr>
          <p:nvPr/>
        </p:nvSpPr>
        <p:spPr>
          <a:xfrm xmlns:a="http://schemas.openxmlformats.org/drawingml/2006/main">
            <a:off x="609600" y="4095750"/>
            <a:ext cx="510540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1430">
            <a:solidFill>
              <a:srgbClr val="CBD5E1"/>
            </a:solidFill>
            <a:prstDash val="solid"/>
          </a:ln>
        </p:spPr>
      </p:sp>
      <p:sp>
        <p:nvSpPr>
          <p:cNvPr id="24" name="">
            <a:extLst xmlns:a="http://schemas.openxmlformats.org/drawingml/2006/main">
              <a:ext uri="{FF2B5EF4-FFF2-40B4-BE49-F238E27FC236}">
                <a16:creationId xmlns:a16="http://schemas.microsoft.com/office/drawing/2014/main" id="{1A8344C8-B9BF-4259-97C7-8ACB78F06FA9}"/>
              </a:ext>
            </a:extLst>
          </p:cNvPr>
          <p:cNvSpPr>
            <a:spLocks xmlns:a="http://schemas.openxmlformats.org/drawingml/2006/main" noGrp="1"/>
          </p:cNvSpPr>
          <p:nvPr/>
        </p:nvSpPr>
        <p:spPr>
          <a:xfrm xmlns:a="http://schemas.openxmlformats.org/drawingml/2006/main">
            <a:off x="609600" y="4095750"/>
            <a:ext cx="76200" cy="17907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CA585325-D7AD-40FB-ADA8-8D1591A239A5}"/>
              </a:ext>
            </a:extLst>
          </p:cNvPr>
          <p:cNvSpPr>
            <a:spLocks xmlns:a="http://schemas.openxmlformats.org/drawingml/2006/main" noGrp="1"/>
          </p:cNvSpPr>
          <p:nvPr/>
        </p:nvSpPr>
        <p:spPr>
          <a:xfrm xmlns:a="http://schemas.openxmlformats.org/drawingml/2006/main">
            <a:off x="857250" y="4267200"/>
            <a:ext cx="466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Presentation framing</a:t>
            </a:r>
          </a:p>
        </p:txBody>
      </p:sp>
      <p:sp>
        <p:nvSpPr>
          <p:cNvPr id="26" name="">
            <a:extLst xmlns:a="http://schemas.openxmlformats.org/drawingml/2006/main">
              <a:ext uri="{FF2B5EF4-FFF2-40B4-BE49-F238E27FC236}">
                <a16:creationId xmlns:a16="http://schemas.microsoft.com/office/drawing/2014/main" id="{4832A2C7-A3A1-4758-8796-584E3E93BF34}"/>
              </a:ext>
            </a:extLst>
          </p:cNvPr>
          <p:cNvSpPr>
            <a:spLocks xmlns:a="http://schemas.openxmlformats.org/drawingml/2006/main" noGrp="1"/>
          </p:cNvSpPr>
          <p:nvPr/>
        </p:nvSpPr>
        <p:spPr>
          <a:xfrm xmlns:a="http://schemas.openxmlformats.org/drawingml/2006/main">
            <a:off x="857250" y="4610100"/>
            <a:ext cx="466725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The honest story is that registration is strong, while the ball and event stage remains fragile. The system already knows when it should defer to human review instead of pretending to be fully automatic.</a:t>
            </a:r>
          </a:p>
        </p:txBody>
      </p:sp>
      <p:sp>
        <p:nvSpPr>
          <p:cNvPr id="27" name="">
            <a:extLst xmlns:a="http://schemas.openxmlformats.org/drawingml/2006/main">
              <a:ext uri="{FF2B5EF4-FFF2-40B4-BE49-F238E27FC236}">
                <a16:creationId xmlns:a16="http://schemas.microsoft.com/office/drawing/2014/main" id="{9F290EAC-A407-4040-9606-DCFD071F3633}"/>
              </a:ext>
            </a:extLst>
          </p:cNvPr>
          <p:cNvSpPr>
            <a:spLocks xmlns:a="http://schemas.openxmlformats.org/drawingml/2006/main" noGrp="1"/>
          </p:cNvSpPr>
          <p:nvPr/>
        </p:nvSpPr>
        <p:spPr>
          <a:xfrm xmlns:a="http://schemas.openxmlformats.org/drawingml/2006/main">
            <a:off x="6096000" y="1333500"/>
            <a:ext cx="5486400" cy="4457700"/>
          </a:xfrm>
          <a:prstGeom xmlns:a="http://schemas.openxmlformats.org/drawingml/2006/main" prst="roundRect">
            <a:avLst>
              <a:gd name="adj" fmla="val 1709"/>
            </a:avLst>
          </a:prstGeom>
          <a:solidFill xmlns:a="http://schemas.openxmlformats.org/drawingml/2006/main">
            <a:srgbClr val="FFFFFF"/>
          </a:solidFill>
          <a:ln xmlns:a="http://schemas.openxmlformats.org/drawingml/2006/main" w="11430">
            <a:solidFill>
              <a:srgbClr val="CBD5E1"/>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ee5aa7ce0ba4616"/>
          <a:stretch xmlns:a="http://schemas.openxmlformats.org/drawingml/2006/main"/>
        </p:blipFill>
        <p:spPr>
          <a:xfrm xmlns:a="http://schemas.openxmlformats.org/drawingml/2006/main">
            <a:off x="6191250" y="2072878"/>
            <a:ext cx="5295900" cy="2978944"/>
          </a:xfrm>
          <a:prstGeom xmlns:a="http://schemas.openxmlformats.org/drawingml/2006/main" prst="roundRect">
            <a:avLst/>
          </a:prstGeom>
        </p:spPr>
      </p:pic>
      <p:sp>
        <p:nvSpPr>
          <p:cNvPr id="29" name="">
            <a:extLst xmlns:a="http://schemas.openxmlformats.org/drawingml/2006/main">
              <a:ext uri="{FF2B5EF4-FFF2-40B4-BE49-F238E27FC236}">
                <a16:creationId xmlns:a16="http://schemas.microsoft.com/office/drawing/2014/main" id="{F1705CB9-0A57-4BDF-B123-50FD21B7877A}"/>
              </a:ext>
            </a:extLst>
          </p:cNvPr>
          <p:cNvSpPr>
            <a:spLocks xmlns:a="http://schemas.openxmlformats.org/drawingml/2006/main" noGrp="1"/>
          </p:cNvSpPr>
          <p:nvPr/>
        </p:nvSpPr>
        <p:spPr>
          <a:xfrm xmlns:a="http://schemas.openxmlformats.org/drawingml/2006/main">
            <a:off x="6115050" y="5924550"/>
            <a:ext cx="5448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64748B"/>
                </a:solidFill>
              </a:defRPr>
            </a:pPr>
            <a:r>
              <a:rPr sz="1125" b="0">
                <a:solidFill>
                  <a:srgbClr val="64748B"/>
                </a:solidFill>
              </a:rPr>
              <a:t>This example stays close enough to the line that the safer label is `uncertain`, especially given the active-side confidence and ball ambiguity in the same frame.</a:t>
            </a:r>
          </a:p>
        </p:txBody>
      </p:sp>
    </p:spTree>
    <p:extLst>
      <p:ext uri="{BB962C8B-B14F-4D97-AF65-F5344CB8AC3E}">
        <p14:creationId xmlns:p14="http://schemas.microsoft.com/office/powerpoint/2010/main" val="844976243"/>
      </p:ext>
    </p:extLst>
  </p:cSld>
</p:sld>
</file>

<file path=ppt/slides/slide9.xml><?xml version="1.0" encoding="utf-8"?>
<p:sld xmlns:p="http://schemas.openxmlformats.org/presentationml/2006/main">
  <p:cSld>
    <p:bg>
      <p:bgPr>
        <a:solidFill xmlns:a="http://schemas.openxmlformats.org/drawingml/2006/main">
          <a:srgbClr val="15233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B9303A3-2918-4E08-AC1E-E4450B2477E1}"/>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HUMAN REVIEW</a:t>
            </a:r>
          </a:p>
        </p:txBody>
      </p:sp>
      <p:sp>
        <p:nvSpPr>
          <p:cNvPr id="3" name="">
            <a:extLst xmlns:a="http://schemas.openxmlformats.org/drawingml/2006/main">
              <a:ext uri="{FF2B5EF4-FFF2-40B4-BE49-F238E27FC236}">
                <a16:creationId xmlns:a16="http://schemas.microsoft.com/office/drawing/2014/main" id="{C7D4A951-8E79-4244-A3A0-7DC8EEE71470}"/>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09 / 10</a:t>
            </a:r>
          </a:p>
        </p:txBody>
      </p:sp>
      <p:sp>
        <p:nvSpPr>
          <p:cNvPr id="4" name="">
            <a:extLst xmlns:a="http://schemas.openxmlformats.org/drawingml/2006/main">
              <a:ext uri="{FF2B5EF4-FFF2-40B4-BE49-F238E27FC236}">
                <a16:creationId xmlns:a16="http://schemas.microsoft.com/office/drawing/2014/main" id="{73EBB397-4FA5-4D61-B4B7-FB2ACAE0788F}"/>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750269A-D1E3-4089-B4DC-032C64DD40EF}"/>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1B59D12-31CC-459B-BAE2-F00EC34FD5A3}"/>
              </a:ext>
            </a:extLst>
          </p:cNvPr>
          <p:cNvSpPr>
            <a:spLocks xmlns:a="http://schemas.openxmlformats.org/drawingml/2006/main" noGrp="1"/>
          </p:cNvSpPr>
          <p:nvPr/>
        </p:nvSpPr>
        <p:spPr>
          <a:xfrm xmlns:a="http://schemas.openxmlformats.org/drawingml/2006/main">
            <a:off x="609600" y="838200"/>
            <a:ext cx="52197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8FAFC"/>
                </a:solidFill>
              </a:defRPr>
            </a:pPr>
            <a:r>
              <a:rPr sz="2325" b="1">
                <a:solidFill>
                  <a:srgbClr val="F8FAFC"/>
                </a:solidFill>
              </a:rPr>
              <a:t>The demo is intentionally human-in-the-loop</a:t>
            </a:r>
          </a:p>
        </p:txBody>
      </p:sp>
      <p:sp>
        <p:nvSpPr>
          <p:cNvPr id="7" name="">
            <a:extLst xmlns:a="http://schemas.openxmlformats.org/drawingml/2006/main">
              <a:ext uri="{FF2B5EF4-FFF2-40B4-BE49-F238E27FC236}">
                <a16:creationId xmlns:a16="http://schemas.microsoft.com/office/drawing/2014/main" id="{3CE04F23-6E4D-409F-A39C-D31084EB8E51}"/>
              </a:ext>
            </a:extLst>
          </p:cNvPr>
          <p:cNvSpPr>
            <a:spLocks xmlns:a="http://schemas.openxmlformats.org/drawingml/2006/main" noGrp="1"/>
          </p:cNvSpPr>
          <p:nvPr/>
        </p:nvSpPr>
        <p:spPr>
          <a:xfrm xmlns:a="http://schemas.openxmlformats.org/drawingml/2006/main">
            <a:off x="609600" y="1638300"/>
            <a:ext cx="52578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CE7F5"/>
                </a:solidFill>
              </a:defRPr>
            </a:pPr>
            <a:r>
              <a:rPr sz="1350" b="0">
                <a:solidFill>
                  <a:srgbClr val="DCE7F5"/>
                </a:solidFill>
              </a:rPr>
              <a:t>In auto_review mode, the pipeline exports artifacts and stops so the reviewer can correct ambiguous frames before final outputs are generated.</a:t>
            </a:r>
          </a:p>
        </p:txBody>
      </p:sp>
      <p:sp>
        <p:nvSpPr>
          <p:cNvPr id="8" name="">
            <a:extLst xmlns:a="http://schemas.openxmlformats.org/drawingml/2006/main">
              <a:ext uri="{FF2B5EF4-FFF2-40B4-BE49-F238E27FC236}">
                <a16:creationId xmlns:a16="http://schemas.microsoft.com/office/drawing/2014/main" id="{122E9236-B827-4865-B21F-15A7BF8B96A8}"/>
              </a:ext>
            </a:extLst>
          </p:cNvPr>
          <p:cNvSpPr>
            <a:spLocks xmlns:a="http://schemas.openxmlformats.org/drawingml/2006/main" noGrp="1"/>
          </p:cNvSpPr>
          <p:nvPr/>
        </p:nvSpPr>
        <p:spPr>
          <a:xfrm xmlns:a="http://schemas.openxmlformats.org/drawingml/2006/main">
            <a:off x="609600" y="2514600"/>
            <a:ext cx="5905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1430">
            <a:solidFill>
              <a:srgbClr val="CBD5E1"/>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577c271669b4e67"/>
          <a:stretch xmlns:a="http://schemas.openxmlformats.org/drawingml/2006/main"/>
        </p:blipFill>
        <p:spPr>
          <a:xfrm xmlns:a="http://schemas.openxmlformats.org/drawingml/2006/main">
            <a:off x="853017" y="2609850"/>
            <a:ext cx="5418667" cy="304800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781725F8-023B-467E-8084-0116BAD07157}"/>
              </a:ext>
            </a:extLst>
          </p:cNvPr>
          <p:cNvSpPr>
            <a:spLocks xmlns:a="http://schemas.openxmlformats.org/drawingml/2006/main" noGrp="1"/>
          </p:cNvSpPr>
          <p:nvPr/>
        </p:nvSpPr>
        <p:spPr>
          <a:xfrm xmlns:a="http://schemas.openxmlformats.org/drawingml/2006/main">
            <a:off x="6896100" y="2514600"/>
            <a:ext cx="46863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1430">
            <a:solidFill>
              <a:srgbClr val="CBD5E1"/>
            </a:solidFill>
            <a:prstDash val="solid"/>
          </a:ln>
        </p:spPr>
      </p:sp>
      <p:sp>
        <p:nvSpPr>
          <p:cNvPr id="11" name="">
            <a:extLst xmlns:a="http://schemas.openxmlformats.org/drawingml/2006/main">
              <a:ext uri="{FF2B5EF4-FFF2-40B4-BE49-F238E27FC236}">
                <a16:creationId xmlns:a16="http://schemas.microsoft.com/office/drawing/2014/main" id="{34E3FD45-05FF-4DE6-925E-D3D4F11109E8}"/>
              </a:ext>
            </a:extLst>
          </p:cNvPr>
          <p:cNvSpPr>
            <a:spLocks xmlns:a="http://schemas.openxmlformats.org/drawingml/2006/main" noGrp="1"/>
          </p:cNvSpPr>
          <p:nvPr/>
        </p:nvSpPr>
        <p:spPr>
          <a:xfrm xmlns:a="http://schemas.openxmlformats.org/drawingml/2006/main">
            <a:off x="6896100" y="2514600"/>
            <a:ext cx="76200" cy="152400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4C667C2-D555-44FE-9ECB-F1876941003F}"/>
              </a:ext>
            </a:extLst>
          </p:cNvPr>
          <p:cNvSpPr>
            <a:spLocks xmlns:a="http://schemas.openxmlformats.org/drawingml/2006/main" noGrp="1"/>
          </p:cNvSpPr>
          <p:nvPr/>
        </p:nvSpPr>
        <p:spPr>
          <a:xfrm xmlns:a="http://schemas.openxmlformats.org/drawingml/2006/main">
            <a:off x="7124700" y="2686050"/>
            <a:ext cx="4305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Reviewer can override</a:t>
            </a:r>
          </a:p>
        </p:txBody>
      </p:sp>
      <p:sp>
        <p:nvSpPr>
          <p:cNvPr id="13" name="">
            <a:extLst xmlns:a="http://schemas.openxmlformats.org/drawingml/2006/main">
              <a:ext uri="{FF2B5EF4-FFF2-40B4-BE49-F238E27FC236}">
                <a16:creationId xmlns:a16="http://schemas.microsoft.com/office/drawing/2014/main" id="{AA6B46A8-DDA9-4C8A-B76C-DE5C8B85F4B4}"/>
              </a:ext>
            </a:extLst>
          </p:cNvPr>
          <p:cNvSpPr>
            <a:spLocks xmlns:a="http://schemas.openxmlformats.org/drawingml/2006/main" noGrp="1"/>
          </p:cNvSpPr>
          <p:nvPr/>
        </p:nvSpPr>
        <p:spPr>
          <a:xfrm xmlns:a="http://schemas.openxmlformats.org/drawingml/2006/main">
            <a:off x="7124700" y="3028950"/>
            <a:ext cx="4286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 Line geometry</a:t>
            </a:r>
          </a:p>
          <a:p xmlns:a="http://schemas.openxmlformats.org/drawingml/2006/main">
            <a:pPr algn="l">
              <a:defRPr sz="1275" b="0">
                <a:solidFill>
                  <a:srgbClr val="111827"/>
                </a:solidFill>
              </a:defRPr>
            </a:pPr>
            <a:r>
              <a:rPr sz="1275" b="0">
                <a:solidFill>
                  <a:srgbClr val="111827"/>
                </a:solidFill>
              </a:rPr>
              <a:t>• Ball points and bounce labels</a:t>
            </a:r>
          </a:p>
          <a:p xmlns:a="http://schemas.openxmlformats.org/drawingml/2006/main">
            <a:pPr algn="l">
              <a:defRPr sz="1275" b="0">
                <a:solidFill>
                  <a:srgbClr val="111827"/>
                </a:solidFill>
              </a:defRPr>
            </a:pPr>
            <a:r>
              <a:rPr sz="1275" b="0">
                <a:solidFill>
                  <a:srgbClr val="111827"/>
                </a:solidFill>
              </a:rPr>
              <a:t>• Foot points and active side</a:t>
            </a:r>
          </a:p>
          <a:p xmlns:a="http://schemas.openxmlformats.org/drawingml/2006/main">
            <a:pPr algn="l">
              <a:defRPr sz="1275" b="0">
                <a:solidFill>
                  <a:srgbClr val="111827"/>
                </a:solidFill>
              </a:defRPr>
            </a:pPr>
            <a:r>
              <a:rPr sz="1275" b="0">
                <a:solidFill>
                  <a:srgbClr val="111827"/>
                </a:solidFill>
              </a:rPr>
              <a:t>• Final event label</a:t>
            </a:r>
          </a:p>
        </p:txBody>
      </p:sp>
      <p:sp>
        <p:nvSpPr>
          <p:cNvPr id="14" name="">
            <a:extLst xmlns:a="http://schemas.openxmlformats.org/drawingml/2006/main">
              <a:ext uri="{FF2B5EF4-FFF2-40B4-BE49-F238E27FC236}">
                <a16:creationId xmlns:a16="http://schemas.microsoft.com/office/drawing/2014/main" id="{FE6333B2-05FF-405C-A789-3B41646F4AB1}"/>
              </a:ext>
            </a:extLst>
          </p:cNvPr>
          <p:cNvSpPr>
            <a:spLocks xmlns:a="http://schemas.openxmlformats.org/drawingml/2006/main" noGrp="1"/>
          </p:cNvSpPr>
          <p:nvPr/>
        </p:nvSpPr>
        <p:spPr>
          <a:xfrm xmlns:a="http://schemas.openxmlformats.org/drawingml/2006/main">
            <a:off x="6896100" y="4248150"/>
            <a:ext cx="4686300" cy="15049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11430">
            <a:solidFill>
              <a:srgbClr val="CBD5E1"/>
            </a:solidFill>
            <a:prstDash val="solid"/>
          </a:ln>
        </p:spPr>
      </p:sp>
      <p:sp>
        <p:nvSpPr>
          <p:cNvPr id="15" name="">
            <a:extLst xmlns:a="http://schemas.openxmlformats.org/drawingml/2006/main">
              <a:ext uri="{FF2B5EF4-FFF2-40B4-BE49-F238E27FC236}">
                <a16:creationId xmlns:a16="http://schemas.microsoft.com/office/drawing/2014/main" id="{549508C8-B48C-4201-897E-BDD0F8064EE8}"/>
              </a:ext>
            </a:extLst>
          </p:cNvPr>
          <p:cNvSpPr>
            <a:spLocks xmlns:a="http://schemas.openxmlformats.org/drawingml/2006/main" noGrp="1"/>
          </p:cNvSpPr>
          <p:nvPr/>
        </p:nvSpPr>
        <p:spPr>
          <a:xfrm xmlns:a="http://schemas.openxmlformats.org/drawingml/2006/main">
            <a:off x="6896100" y="4248150"/>
            <a:ext cx="76200" cy="15049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CC81E45-F963-4060-9DC8-D70830CA4FF9}"/>
              </a:ext>
            </a:extLst>
          </p:cNvPr>
          <p:cNvSpPr>
            <a:spLocks xmlns:a="http://schemas.openxmlformats.org/drawingml/2006/main" noGrp="1"/>
          </p:cNvSpPr>
          <p:nvPr/>
        </p:nvSpPr>
        <p:spPr>
          <a:xfrm xmlns:a="http://schemas.openxmlformats.org/drawingml/2006/main">
            <a:off x="7143750" y="4419600"/>
            <a:ext cx="4248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Why this is acceptable in a research prototype</a:t>
            </a:r>
          </a:p>
        </p:txBody>
      </p:sp>
      <p:sp>
        <p:nvSpPr>
          <p:cNvPr id="17" name="">
            <a:extLst xmlns:a="http://schemas.openxmlformats.org/drawingml/2006/main">
              <a:ext uri="{FF2B5EF4-FFF2-40B4-BE49-F238E27FC236}">
                <a16:creationId xmlns:a16="http://schemas.microsoft.com/office/drawing/2014/main" id="{58063A14-008E-42A5-8483-FD4159E1A9CE}"/>
              </a:ext>
            </a:extLst>
          </p:cNvPr>
          <p:cNvSpPr>
            <a:spLocks xmlns:a="http://schemas.openxmlformats.org/drawingml/2006/main" noGrp="1"/>
          </p:cNvSpPr>
          <p:nvPr/>
        </p:nvSpPr>
        <p:spPr>
          <a:xfrm xmlns:a="http://schemas.openxmlformats.org/drawingml/2006/main">
            <a:off x="7143750" y="4762500"/>
            <a:ext cx="4248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11827"/>
                </a:solidFill>
              </a:defRPr>
            </a:pPr>
            <a:r>
              <a:rPr sz="1275" b="0">
                <a:solidFill>
                  <a:srgbClr val="111827"/>
                </a:solidFill>
              </a:rPr>
              <a:t>The review step makes the workflow honest and auditable. Hard cases are surfaced explicitly instead of being hidden behind a false sense of automation.</a:t>
            </a:r>
          </a:p>
        </p:txBody>
      </p:sp>
      <p:sp>
        <p:nvSpPr>
          <p:cNvPr id="18" name="">
            <a:extLst xmlns:a="http://schemas.openxmlformats.org/drawingml/2006/main">
              <a:ext uri="{FF2B5EF4-FFF2-40B4-BE49-F238E27FC236}">
                <a16:creationId xmlns:a16="http://schemas.microsoft.com/office/drawing/2014/main" id="{CB110093-9F1D-4792-B996-C451A9000E0A}"/>
              </a:ext>
            </a:extLst>
          </p:cNvPr>
          <p:cNvSpPr>
            <a:spLocks xmlns:a="http://schemas.openxmlformats.org/drawingml/2006/main" noGrp="1"/>
          </p:cNvSpPr>
          <p:nvPr/>
        </p:nvSpPr>
        <p:spPr>
          <a:xfrm xmlns:a="http://schemas.openxmlformats.org/drawingml/2006/main">
            <a:off x="609600" y="5981700"/>
            <a:ext cx="10972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DCE7F5"/>
                </a:solidFill>
              </a:defRPr>
            </a:pPr>
            <a:r>
              <a:rPr sz="1125" b="0">
                <a:solidFill>
                  <a:srgbClr val="DCE7F5"/>
                </a:solidFill>
              </a:rPr>
              <a:t>This architecture is a strength for presentation: it shows the system knows when to ask for help.</a:t>
            </a:r>
          </a:p>
        </p:txBody>
      </p:sp>
    </p:spTree>
    <p:extLst>
      <p:ext uri="{BB962C8B-B14F-4D97-AF65-F5344CB8AC3E}">
        <p14:creationId xmlns:p14="http://schemas.microsoft.com/office/powerpoint/2010/main" val="327930905"/>
      </p:ext>
    </p:extLst>
  </p:cSld>
</p:sld>
</file>

<file path=ppt/slides/slide10.xml><?xml version="1.0" encoding="utf-8"?>
<p:sld xmlns:p="http://schemas.openxmlformats.org/presentationml/2006/main">
  <p:cSld>
    <p:bg>
      <p:bgPr>
        <a:solidFill xmlns:a="http://schemas.openxmlformats.org/drawingml/2006/main">
          <a:srgbClr val="15233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38C137-07D6-4222-B5A6-AB3706230DF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FEF4176-799C-451A-917D-AD009008EF7F}"/>
              </a:ext>
            </a:extLst>
          </p:cNvPr>
          <p:cNvSpPr>
            <a:spLocks xmlns:a="http://schemas.openxmlformats.org/drawingml/2006/main" noGrp="1"/>
          </p:cNvSpPr>
          <p:nvPr/>
        </p:nvSpPr>
        <p:spPr>
          <a:xfrm xmlns:a="http://schemas.openxmlformats.org/drawingml/2006/main">
            <a:off x="609600" y="3048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6534"/>
                </a:solidFill>
              </a:defRPr>
            </a:pPr>
            <a:r>
              <a:rPr sz="900" b="1">
                <a:solidFill>
                  <a:srgbClr val="166534"/>
                </a:solidFill>
              </a:rPr>
              <a:t>TAKEAWAYS</a:t>
            </a:r>
          </a:p>
        </p:txBody>
      </p:sp>
      <p:sp>
        <p:nvSpPr>
          <p:cNvPr id="3" name="">
            <a:extLst xmlns:a="http://schemas.openxmlformats.org/drawingml/2006/main">
              <a:ext uri="{FF2B5EF4-FFF2-40B4-BE49-F238E27FC236}">
                <a16:creationId xmlns:a16="http://schemas.microsoft.com/office/drawing/2014/main" id="{6D9E171A-C674-43F8-8D8C-9DBA96512076}"/>
              </a:ext>
            </a:extLst>
          </p:cNvPr>
          <p:cNvSpPr>
            <a:spLocks xmlns:a="http://schemas.openxmlformats.org/drawingml/2006/main" noGrp="1"/>
          </p:cNvSpPr>
          <p:nvPr/>
        </p:nvSpPr>
        <p:spPr>
          <a:xfrm xmlns:a="http://schemas.openxmlformats.org/drawingml/2006/main">
            <a:off x="10668000" y="30480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166534"/>
                </a:solidFill>
              </a:defRPr>
            </a:pPr>
            <a:r>
              <a:rPr sz="900" b="1">
                <a:solidFill>
                  <a:srgbClr val="166534"/>
                </a:solidFill>
              </a:rPr>
              <a:t>10 / 10</a:t>
            </a:r>
          </a:p>
        </p:txBody>
      </p:sp>
      <p:sp>
        <p:nvSpPr>
          <p:cNvPr id="4" name="">
            <a:extLst xmlns:a="http://schemas.openxmlformats.org/drawingml/2006/main">
              <a:ext uri="{FF2B5EF4-FFF2-40B4-BE49-F238E27FC236}">
                <a16:creationId xmlns:a16="http://schemas.microsoft.com/office/drawing/2014/main" id="{007CB57C-F7E3-4E8D-B4F0-6AA377BD8EBC}"/>
              </a:ext>
            </a:extLst>
          </p:cNvPr>
          <p:cNvSpPr>
            <a:spLocks xmlns:a="http://schemas.openxmlformats.org/drawingml/2006/main" noGrp="1"/>
          </p:cNvSpPr>
          <p:nvPr/>
        </p:nvSpPr>
        <p:spPr>
          <a:xfrm xmlns:a="http://schemas.openxmlformats.org/drawingml/2006/main">
            <a:off x="609600" y="571500"/>
            <a:ext cx="1097280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EA0C029-B392-4F2A-A5FC-6912C5653B95}"/>
              </a:ext>
            </a:extLst>
          </p:cNvPr>
          <p:cNvSpPr>
            <a:spLocks xmlns:a="http://schemas.openxmlformats.org/drawingml/2006/main" noGrp="1"/>
          </p:cNvSpPr>
          <p:nvPr/>
        </p:nvSpPr>
        <p:spPr>
          <a:xfrm xmlns:a="http://schemas.openxmlformats.org/drawingml/2006/main">
            <a:off x="533400" y="495300"/>
            <a:ext cx="152400" cy="152400"/>
          </a:xfrm>
          <a:prstGeom xmlns:a="http://schemas.openxmlformats.org/drawingml/2006/main" prst="ellipse">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2ED4FBB-59AE-4A7C-9273-E86FC842BA92}"/>
              </a:ext>
            </a:extLst>
          </p:cNvPr>
          <p:cNvSpPr>
            <a:spLocks xmlns:a="http://schemas.openxmlformats.org/drawingml/2006/main" noGrp="1"/>
          </p:cNvSpPr>
          <p:nvPr/>
        </p:nvSpPr>
        <p:spPr>
          <a:xfrm xmlns:a="http://schemas.openxmlformats.org/drawingml/2006/main">
            <a:off x="609600" y="838200"/>
            <a:ext cx="52387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8FAFC"/>
                </a:solidFill>
              </a:defRPr>
            </a:pPr>
            <a:r>
              <a:rPr sz="2325" b="1">
                <a:solidFill>
                  <a:srgbClr val="F8FAFC"/>
                </a:solidFill>
              </a:rPr>
              <a:t>Present this as a research prototype with human review</a:t>
            </a:r>
          </a:p>
        </p:txBody>
      </p:sp>
      <p:sp>
        <p:nvSpPr>
          <p:cNvPr id="7" name="">
            <a:extLst xmlns:a="http://schemas.openxmlformats.org/drawingml/2006/main">
              <a:ext uri="{FF2B5EF4-FFF2-40B4-BE49-F238E27FC236}">
                <a16:creationId xmlns:a16="http://schemas.microsoft.com/office/drawing/2014/main" id="{C540DE26-D109-4D8C-8CC3-912466605FE5}"/>
              </a:ext>
            </a:extLst>
          </p:cNvPr>
          <p:cNvSpPr>
            <a:spLocks xmlns:a="http://schemas.openxmlformats.org/drawingml/2006/main" noGrp="1"/>
          </p:cNvSpPr>
          <p:nvPr/>
        </p:nvSpPr>
        <p:spPr>
          <a:xfrm xmlns:a="http://schemas.openxmlformats.org/drawingml/2006/main">
            <a:off x="609600" y="1676400"/>
            <a:ext cx="51816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8603"/>
          </a:bodyPr>
          <a:lstStyle xmlns:a="http://schemas.openxmlformats.org/drawingml/2006/main"/>
          <a:p xmlns:a="http://schemas.openxmlformats.org/drawingml/2006/main">
            <a:pPr algn="l">
              <a:defRPr sz="1350" b="0">
                <a:solidFill>
                  <a:srgbClr val="DCE7F5"/>
                </a:solidFill>
              </a:defRPr>
            </a:pPr>
            <a:r>
              <a:rPr sz="1350" b="0">
                <a:solidFill>
                  <a:srgbClr val="DCE7F5"/>
                </a:solidFill>
              </a:rPr>
              <a:t>That framing highlights what already works, stays honest about what does not, and gives a credible roadmap for future improvement.</a:t>
            </a:r>
          </a:p>
        </p:txBody>
      </p:sp>
      <p:sp>
        <p:nvSpPr>
          <p:cNvPr id="8" name="">
            <a:extLst xmlns:a="http://schemas.openxmlformats.org/drawingml/2006/main">
              <a:ext uri="{FF2B5EF4-FFF2-40B4-BE49-F238E27FC236}">
                <a16:creationId xmlns:a16="http://schemas.microsoft.com/office/drawing/2014/main" id="{EA8BBA6E-64BF-4DF2-B2B8-7621BBA294CC}"/>
              </a:ext>
            </a:extLst>
          </p:cNvPr>
          <p:cNvSpPr>
            <a:spLocks xmlns:a="http://schemas.openxmlformats.org/drawingml/2006/main" noGrp="1"/>
          </p:cNvSpPr>
          <p:nvPr/>
        </p:nvSpPr>
        <p:spPr>
          <a:xfrm xmlns:a="http://schemas.openxmlformats.org/drawingml/2006/main">
            <a:off x="609600" y="2514600"/>
            <a:ext cx="6096000" cy="3390900"/>
          </a:xfrm>
          <a:prstGeom xmlns:a="http://schemas.openxmlformats.org/drawingml/2006/main" prst="roundRect">
            <a:avLst>
              <a:gd name="adj" fmla="val 2247"/>
            </a:avLst>
          </a:prstGeom>
          <a:solidFill xmlns:a="http://schemas.openxmlformats.org/drawingml/2006/main">
            <a:srgbClr val="FFFFFF"/>
          </a:solidFill>
          <a:ln xmlns:a="http://schemas.openxmlformats.org/drawingml/2006/main" w="11430">
            <a:solidFill>
              <a:srgbClr val="CBD5E1"/>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a3d2b1b2f6149ee"/>
          <a:stretch xmlns:a="http://schemas.openxmlformats.org/drawingml/2006/main"/>
        </p:blipFill>
        <p:spPr>
          <a:xfrm xmlns:a="http://schemas.openxmlformats.org/drawingml/2006/main">
            <a:off x="812800" y="2609850"/>
            <a:ext cx="5689600" cy="320040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8CC7401E-0EF3-47BB-9E98-53A59B2DE760}"/>
              </a:ext>
            </a:extLst>
          </p:cNvPr>
          <p:cNvSpPr>
            <a:spLocks xmlns:a="http://schemas.openxmlformats.org/drawingml/2006/main" noGrp="1"/>
          </p:cNvSpPr>
          <p:nvPr/>
        </p:nvSpPr>
        <p:spPr>
          <a:xfrm xmlns:a="http://schemas.openxmlformats.org/drawingml/2006/main">
            <a:off x="7086600" y="2495550"/>
            <a:ext cx="44767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CBD5E1"/>
            </a:solidFill>
            <a:prstDash val="solid"/>
          </a:ln>
        </p:spPr>
      </p:sp>
      <p:sp>
        <p:nvSpPr>
          <p:cNvPr id="11" name="">
            <a:extLst xmlns:a="http://schemas.openxmlformats.org/drawingml/2006/main">
              <a:ext uri="{FF2B5EF4-FFF2-40B4-BE49-F238E27FC236}">
                <a16:creationId xmlns:a16="http://schemas.microsoft.com/office/drawing/2014/main" id="{742AE839-2394-4A2A-82B6-9774BC88BB46}"/>
              </a:ext>
            </a:extLst>
          </p:cNvPr>
          <p:cNvSpPr>
            <a:spLocks xmlns:a="http://schemas.openxmlformats.org/drawingml/2006/main" noGrp="1"/>
          </p:cNvSpPr>
          <p:nvPr/>
        </p:nvSpPr>
        <p:spPr>
          <a:xfrm xmlns:a="http://schemas.openxmlformats.org/drawingml/2006/main">
            <a:off x="7086600" y="2495550"/>
            <a:ext cx="76200" cy="1009650"/>
          </a:xfrm>
          <a:prstGeom xmlns:a="http://schemas.openxmlformats.org/drawingml/2006/main" prst="rect">
            <a:avLst/>
          </a:prstGeom>
          <a:solidFill xmlns:a="http://schemas.openxmlformats.org/drawingml/2006/main">
            <a:srgbClr val="22C5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25589DC-C3CA-4C9C-8B81-150EDB7BCAEF}"/>
              </a:ext>
            </a:extLst>
          </p:cNvPr>
          <p:cNvSpPr>
            <a:spLocks xmlns:a="http://schemas.openxmlformats.org/drawingml/2006/main" noGrp="1"/>
          </p:cNvSpPr>
          <p:nvPr/>
        </p:nvSpPr>
        <p:spPr>
          <a:xfrm xmlns:a="http://schemas.openxmlformats.org/drawingml/2006/main">
            <a:off x="7334250" y="2667000"/>
            <a:ext cx="4038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Strongest result</a:t>
            </a:r>
          </a:p>
        </p:txBody>
      </p:sp>
      <p:sp>
        <p:nvSpPr>
          <p:cNvPr id="13" name="">
            <a:extLst xmlns:a="http://schemas.openxmlformats.org/drawingml/2006/main">
              <a:ext uri="{FF2B5EF4-FFF2-40B4-BE49-F238E27FC236}">
                <a16:creationId xmlns:a16="http://schemas.microsoft.com/office/drawing/2014/main" id="{5E275CBD-0240-4653-AADE-48D39D51A2E4}"/>
              </a:ext>
            </a:extLst>
          </p:cNvPr>
          <p:cNvSpPr>
            <a:spLocks xmlns:a="http://schemas.openxmlformats.org/drawingml/2006/main" noGrp="1"/>
          </p:cNvSpPr>
          <p:nvPr/>
        </p:nvSpPr>
        <p:spPr>
          <a:xfrm xmlns:a="http://schemas.openxmlformats.org/drawingml/2006/main">
            <a:off x="7334250" y="3009900"/>
            <a:ext cx="403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8754"/>
          </a:bodyPr>
          <a:lstStyle xmlns:a="http://schemas.openxmlformats.org/drawingml/2006/main"/>
          <a:p xmlns:a="http://schemas.openxmlformats.org/drawingml/2006/main">
            <a:pPr algn="l">
              <a:defRPr sz="1275" b="0">
                <a:solidFill>
                  <a:srgbClr val="111827"/>
                </a:solidFill>
              </a:defRPr>
            </a:pPr>
            <a:r>
              <a:rPr sz="1275" b="0">
                <a:solidFill>
                  <a:srgbClr val="111827"/>
                </a:solidFill>
              </a:rPr>
              <a:t>Court registration stayed stable across 2055 / 2055 frames with 0 fallbacks on the real clip.</a:t>
            </a:r>
          </a:p>
        </p:txBody>
      </p:sp>
      <p:sp>
        <p:nvSpPr>
          <p:cNvPr id="14" name="">
            <a:extLst xmlns:a="http://schemas.openxmlformats.org/drawingml/2006/main">
              <a:ext uri="{FF2B5EF4-FFF2-40B4-BE49-F238E27FC236}">
                <a16:creationId xmlns:a16="http://schemas.microsoft.com/office/drawing/2014/main" id="{D286BFF6-B99A-4FFE-80FE-8E7365DFF2CD}"/>
              </a:ext>
            </a:extLst>
          </p:cNvPr>
          <p:cNvSpPr>
            <a:spLocks xmlns:a="http://schemas.openxmlformats.org/drawingml/2006/main" noGrp="1"/>
          </p:cNvSpPr>
          <p:nvPr/>
        </p:nvSpPr>
        <p:spPr>
          <a:xfrm xmlns:a="http://schemas.openxmlformats.org/drawingml/2006/main">
            <a:off x="7086600" y="3695700"/>
            <a:ext cx="44767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CBD5E1"/>
            </a:solidFill>
            <a:prstDash val="solid"/>
          </a:ln>
        </p:spPr>
      </p:sp>
      <p:sp>
        <p:nvSpPr>
          <p:cNvPr id="15" name="">
            <a:extLst xmlns:a="http://schemas.openxmlformats.org/drawingml/2006/main">
              <a:ext uri="{FF2B5EF4-FFF2-40B4-BE49-F238E27FC236}">
                <a16:creationId xmlns:a16="http://schemas.microsoft.com/office/drawing/2014/main" id="{4FCEC325-F63F-474E-866C-BCEF45808A5D}"/>
              </a:ext>
            </a:extLst>
          </p:cNvPr>
          <p:cNvSpPr>
            <a:spLocks xmlns:a="http://schemas.openxmlformats.org/drawingml/2006/main" noGrp="1"/>
          </p:cNvSpPr>
          <p:nvPr/>
        </p:nvSpPr>
        <p:spPr>
          <a:xfrm xmlns:a="http://schemas.openxmlformats.org/drawingml/2006/main">
            <a:off x="7086600" y="3695700"/>
            <a:ext cx="76200" cy="1009650"/>
          </a:xfrm>
          <a:prstGeom xmlns:a="http://schemas.openxmlformats.org/drawingml/2006/main" prst="rect">
            <a:avLst/>
          </a:prstGeom>
          <a:solidFill xmlns:a="http://schemas.openxmlformats.org/drawingml/2006/main">
            <a:srgbClr val="D4A7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85902A5-6F76-48F2-B1B6-3B87424A420A}"/>
              </a:ext>
            </a:extLst>
          </p:cNvPr>
          <p:cNvSpPr>
            <a:spLocks xmlns:a="http://schemas.openxmlformats.org/drawingml/2006/main" noGrp="1"/>
          </p:cNvSpPr>
          <p:nvPr/>
        </p:nvSpPr>
        <p:spPr>
          <a:xfrm xmlns:a="http://schemas.openxmlformats.org/drawingml/2006/main">
            <a:off x="7334250" y="3867150"/>
            <a:ext cx="4038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Current limitation</a:t>
            </a:r>
          </a:p>
        </p:txBody>
      </p:sp>
      <p:sp>
        <p:nvSpPr>
          <p:cNvPr id="17" name="">
            <a:extLst xmlns:a="http://schemas.openxmlformats.org/drawingml/2006/main">
              <a:ext uri="{FF2B5EF4-FFF2-40B4-BE49-F238E27FC236}">
                <a16:creationId xmlns:a16="http://schemas.microsoft.com/office/drawing/2014/main" id="{E2C8FCCF-929C-480C-877F-28309861BED3}"/>
              </a:ext>
            </a:extLst>
          </p:cNvPr>
          <p:cNvSpPr>
            <a:spLocks xmlns:a="http://schemas.openxmlformats.org/drawingml/2006/main" noGrp="1"/>
          </p:cNvSpPr>
          <p:nvPr/>
        </p:nvSpPr>
        <p:spPr>
          <a:xfrm xmlns:a="http://schemas.openxmlformats.org/drawingml/2006/main">
            <a:off x="7334250" y="4210050"/>
            <a:ext cx="403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8754"/>
          </a:bodyPr>
          <a:lstStyle xmlns:a="http://schemas.openxmlformats.org/drawingml/2006/main"/>
          <a:p xmlns:a="http://schemas.openxmlformats.org/drawingml/2006/main">
            <a:pPr algn="l">
              <a:defRPr sz="1275" b="0">
                <a:solidFill>
                  <a:srgbClr val="111827"/>
                </a:solidFill>
              </a:defRPr>
            </a:pPr>
            <a:r>
              <a:rPr sz="1275" b="0">
                <a:solidFill>
                  <a:srgbClr val="111827"/>
                </a:solidFill>
              </a:rPr>
              <a:t>Ball tracking and event timing still limit the automatic pipeline, which is why the demo uses a review-and-override workflow.</a:t>
            </a:r>
          </a:p>
        </p:txBody>
      </p:sp>
      <p:sp>
        <p:nvSpPr>
          <p:cNvPr id="18" name="">
            <a:extLst xmlns:a="http://schemas.openxmlformats.org/drawingml/2006/main">
              <a:ext uri="{FF2B5EF4-FFF2-40B4-BE49-F238E27FC236}">
                <a16:creationId xmlns:a16="http://schemas.microsoft.com/office/drawing/2014/main" id="{AFE4E919-4AD1-4FF2-A383-73D69F86B1DE}"/>
              </a:ext>
            </a:extLst>
          </p:cNvPr>
          <p:cNvSpPr>
            <a:spLocks xmlns:a="http://schemas.openxmlformats.org/drawingml/2006/main" noGrp="1"/>
          </p:cNvSpPr>
          <p:nvPr/>
        </p:nvSpPr>
        <p:spPr>
          <a:xfrm xmlns:a="http://schemas.openxmlformats.org/drawingml/2006/main">
            <a:off x="7086600" y="4895850"/>
            <a:ext cx="44767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CBD5E1"/>
            </a:solidFill>
            <a:prstDash val="solid"/>
          </a:ln>
        </p:spPr>
      </p:sp>
      <p:sp>
        <p:nvSpPr>
          <p:cNvPr id="19" name="">
            <a:extLst xmlns:a="http://schemas.openxmlformats.org/drawingml/2006/main">
              <a:ext uri="{FF2B5EF4-FFF2-40B4-BE49-F238E27FC236}">
                <a16:creationId xmlns:a16="http://schemas.microsoft.com/office/drawing/2014/main" id="{96215B77-3DF4-40CB-A491-5CF65D008D51}"/>
              </a:ext>
            </a:extLst>
          </p:cNvPr>
          <p:cNvSpPr>
            <a:spLocks xmlns:a="http://schemas.openxmlformats.org/drawingml/2006/main" noGrp="1"/>
          </p:cNvSpPr>
          <p:nvPr/>
        </p:nvSpPr>
        <p:spPr>
          <a:xfrm xmlns:a="http://schemas.openxmlformats.org/drawingml/2006/main">
            <a:off x="7086600" y="4895850"/>
            <a:ext cx="76200" cy="1009650"/>
          </a:xfrm>
          <a:prstGeom xmlns:a="http://schemas.openxmlformats.org/drawingml/2006/main" prst="rect">
            <a:avLst/>
          </a:prstGeom>
          <a:solidFill xmlns:a="http://schemas.openxmlformats.org/drawingml/2006/main">
            <a:srgbClr val="E76F5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A102620-C48A-4CC2-8718-5A895FE31214}"/>
              </a:ext>
            </a:extLst>
          </p:cNvPr>
          <p:cNvSpPr>
            <a:spLocks xmlns:a="http://schemas.openxmlformats.org/drawingml/2006/main" noGrp="1"/>
          </p:cNvSpPr>
          <p:nvPr/>
        </p:nvSpPr>
        <p:spPr>
          <a:xfrm xmlns:a="http://schemas.openxmlformats.org/drawingml/2006/main">
            <a:off x="7334250" y="5067300"/>
            <a:ext cx="4038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6534"/>
                </a:solidFill>
              </a:defRPr>
            </a:pPr>
            <a:r>
              <a:rPr sz="1125" b="1">
                <a:solidFill>
                  <a:srgbClr val="166534"/>
                </a:solidFill>
              </a:rPr>
              <a:t>Best next step</a:t>
            </a:r>
          </a:p>
        </p:txBody>
      </p:sp>
      <p:sp>
        <p:nvSpPr>
          <p:cNvPr id="21" name="">
            <a:extLst xmlns:a="http://schemas.openxmlformats.org/drawingml/2006/main">
              <a:ext uri="{FF2B5EF4-FFF2-40B4-BE49-F238E27FC236}">
                <a16:creationId xmlns:a16="http://schemas.microsoft.com/office/drawing/2014/main" id="{55D05D75-27A3-471B-BE8B-44AEF76FC841}"/>
              </a:ext>
            </a:extLst>
          </p:cNvPr>
          <p:cNvSpPr>
            <a:spLocks xmlns:a="http://schemas.openxmlformats.org/drawingml/2006/main" noGrp="1"/>
          </p:cNvSpPr>
          <p:nvPr/>
        </p:nvSpPr>
        <p:spPr>
          <a:xfrm xmlns:a="http://schemas.openxmlformats.org/drawingml/2006/main">
            <a:off x="7334250" y="5410200"/>
            <a:ext cx="4038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8754"/>
          </a:bodyPr>
          <a:lstStyle xmlns:a="http://schemas.openxmlformats.org/drawingml/2006/main"/>
          <a:p xmlns:a="http://schemas.openxmlformats.org/drawingml/2006/main">
            <a:pPr algn="l">
              <a:defRPr sz="1275" b="0">
                <a:solidFill>
                  <a:srgbClr val="111827"/>
                </a:solidFill>
              </a:defRPr>
            </a:pPr>
            <a:r>
              <a:rPr sz="1275" b="0">
                <a:solidFill>
                  <a:srgbClr val="111827"/>
                </a:solidFill>
              </a:rPr>
              <a:t>Improve the ball detector and collect more labeled real clips so the uncertainty and override rates can be measured rigorously.</a:t>
            </a:r>
          </a:p>
        </p:txBody>
      </p:sp>
      <p:sp>
        <p:nvSpPr>
          <p:cNvPr id="22" name="">
            <a:extLst xmlns:a="http://schemas.openxmlformats.org/drawingml/2006/main">
              <a:ext uri="{FF2B5EF4-FFF2-40B4-BE49-F238E27FC236}">
                <a16:creationId xmlns:a16="http://schemas.microsoft.com/office/drawing/2014/main" id="{F3552ED5-8161-4C8E-A85E-D177665039A4}"/>
              </a:ext>
            </a:extLst>
          </p:cNvPr>
          <p:cNvSpPr>
            <a:spLocks xmlns:a="http://schemas.openxmlformats.org/drawingml/2006/main" noGrp="1"/>
          </p:cNvSpPr>
          <p:nvPr/>
        </p:nvSpPr>
        <p:spPr>
          <a:xfrm xmlns:a="http://schemas.openxmlformats.org/drawingml/2006/main">
            <a:off x="609600" y="6076950"/>
            <a:ext cx="10953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DCE7F5"/>
                </a:solidFill>
              </a:defRPr>
            </a:pPr>
            <a:r>
              <a:rPr sz="1125" b="0">
                <a:solidFill>
                  <a:srgbClr val="DCE7F5"/>
                </a:solidFill>
              </a:rPr>
              <a:t>Recommended closing line: KitchenMaster already produces interpretable court-aligned event evidence, but it should be presented today as a human-in-the-loop referee assistant rather than a finished autonomous judge.</a:t>
            </a:r>
          </a:p>
        </p:txBody>
      </p:sp>
    </p:spTree>
    <p:extLst>
      <p:ext uri="{BB962C8B-B14F-4D97-AF65-F5344CB8AC3E}">
        <p14:creationId xmlns:p14="http://schemas.microsoft.com/office/powerpoint/2010/main" val="119739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2026-04-23T20:11:44.6910000Z</dcterms:created>
  <dcterms:modified xsi:type="dcterms:W3CDTF">2026-04-23T20:11:44.6910000Z</dcterms:modified>
</coreProperties>
</file>